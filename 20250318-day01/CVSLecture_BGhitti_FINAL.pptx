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mpeg" ContentType="vide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321" r:id="rId5"/>
    <p:sldId id="320" r:id="rId6"/>
    <p:sldId id="309" r:id="rId7"/>
    <p:sldId id="311" r:id="rId8"/>
    <p:sldId id="318" r:id="rId9"/>
    <p:sldId id="314" r:id="rId10"/>
    <p:sldId id="316" r:id="rId11"/>
    <p:sldId id="323" r:id="rId12"/>
    <p:sldId id="258" r:id="rId13"/>
    <p:sldId id="324" r:id="rId14"/>
    <p:sldId id="315" r:id="rId15"/>
    <p:sldId id="317" r:id="rId16"/>
    <p:sldId id="319" r:id="rId17"/>
    <p:sldId id="322" r:id="rId18"/>
    <p:sldId id="2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3"/>
    <p:restoredTop sz="94491"/>
  </p:normalViewPr>
  <p:slideViewPr>
    <p:cSldViewPr snapToGrid="0">
      <p:cViewPr varScale="1">
        <p:scale>
          <a:sx n="114" d="100"/>
          <a:sy n="114" d="100"/>
        </p:scale>
        <p:origin x="1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64293-C644-4965-B14A-561F41A1D90E}" type="datetimeFigureOut">
              <a:rPr lang="nl-BE" smtClean="0"/>
              <a:t>11/03/2025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EB27E-DEA3-4CF9-9E54-4587F6DA5B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418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Biological mechanisms – examples: baroreflex control, cerebral autoregulation.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Mechanical characteristics – examples: viscoelastic properties of vessel walls.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EB27E-DEA3-4CF9-9E54-4587F6DA5B69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15486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E1B2-098E-23B7-76BF-8A2116833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173A5-44E0-2B03-A200-8509D96B7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0009-DCC3-A2D7-F380-75F974A0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5BE58-D4A9-74A1-F04F-6A15FD13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187EB-8494-A825-2211-FB08ACC6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24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081F-0F90-D3F7-F24E-202658E1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55576"/>
            <a:ext cx="11430000" cy="863600"/>
          </a:xfrm>
        </p:spPr>
        <p:txBody>
          <a:bodyPr anchor="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DADE3-34A6-E7FE-EFB3-9C7E8DA0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294609"/>
            <a:ext cx="11429999" cy="4626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EE70F-A230-BB27-E382-43E14D13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C9DF-63F0-4F27-787D-506E0030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773CB-05B7-01F5-83CB-B831CE46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53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C029-6F68-E9D5-955E-520DFC1C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B714A-12A0-834A-84CF-E711A5A17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43FB6-AFBE-461B-3BF4-5155409D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E9E96-D063-2B9D-70F8-A9110EBD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1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979C-FA9A-3962-30B5-768F4885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0B1C-6C98-0DF8-B655-C05BCBA83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6178-C551-39D2-1C87-9F849FB4D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4910E-6A75-7DF4-B3B7-0BF35B75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F360-70DD-38B3-9052-5A8D0273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F9261-27F8-A0C4-FC04-47584ACC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36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FA09-C666-5A78-DDEB-54A20CE2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1ADEB-A81B-361A-6E43-26E9EB2BD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BCCB8-2EDD-3877-B38C-875258CB1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50CB6-2863-D56C-1701-6366A2625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7FD93-1CCD-B888-66E8-C35CA3F0B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09ACA-BA57-4835-A01D-5B6D61FE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87ECB-CDFC-D460-E63A-404D1A54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7FBD3-0316-579B-501F-5858C861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0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6AFF7-0741-A12C-7A24-344F0EE0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97165-6F5D-D967-9611-66C4C94B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85465-DEA1-1107-1B21-0E16A793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DB798-18B0-258D-3BFA-B16D3465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C1661-780A-F60A-7B20-F15F490C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A14B8-C2B9-0E09-A5ED-07039AE3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FDDF-05E2-72EC-3888-762B2033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33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B335-1AC2-E612-7051-BD3EA184E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4B4A-E2EF-A722-89A0-B4AD170A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50927-9082-806F-73CF-CF5743D5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7D98C-3F7E-656A-10C4-B7DF525F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4DEF-8647-AD61-B7CB-7ED7A334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2A7D8-D083-49A1-2C16-94806D44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97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77F7-5733-44EE-8253-4332E5BC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0362E-99BA-5786-FB07-E2B876A98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B4239-D571-F61C-DF13-1392CE8E8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15D5F-1478-50A0-68B4-E3E52770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671A2-2E4C-4341-A7BD-8F2B50D1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B070E-8CE4-940E-B3C4-5F31DA8B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3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E3A8-813F-8295-377D-62496A35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6D720-CC4C-4B84-4AB1-764C4FBB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A3013-4F30-3A7A-77A5-8B617795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B788-852E-7EFF-4A80-DACCF7E0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07CCA-9005-558A-B934-DCF4ECE2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54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8498E-BBC8-2EEC-3ACA-3955F3170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6D093-3465-8FB4-4F6A-131AB5D52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C6937-9FAA-08E0-E0AB-A12BA1A5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81DE9ED-0611-4FB4-B8A9-49F12044106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B948-569A-4771-D16A-D9BC55BF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2C17F-6996-D87E-D581-B27A2E14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497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367458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E56-9D41-79B6-37D5-28625FE4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1031-DE4B-0378-33E6-C5A56662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64F5-DD18-2093-F7C8-13C2F2AC0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23548" y="6279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E62FE-9C83-412A-6ED7-F20F89FEC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86675" y="62795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012488FD-2D32-4CDF-7B20-0AF75D63C89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0" y="5783204"/>
            <a:ext cx="992604" cy="99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389/fphys.2022.1018134" TargetMode="External"/><Relationship Id="rId4" Type="http://schemas.openxmlformats.org/officeDocument/2006/relationships/hyperlink" Target="https://doi.org/10.3389/fphys.2023.116239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commons.wikimedia.org/wiki/File:Human_brain_icon.sv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File:Human_circulatory_system.svg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i.org/10.3389/fphys.2022.101813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doi.org/10.1007/s10237-024-01908-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media" Target="../media/media2.mpe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20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9.png"/><Relationship Id="rId4" Type="http://schemas.openxmlformats.org/officeDocument/2006/relationships/video" Target="../media/media2.mpe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cnm.3532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hyperlink" Target="https://doi.org/10.1007/s00466-022-02206-6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phys.2018.00148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glowing line in a blue background&#10;&#10;AI-generated content may be incorrect.">
            <a:extLst>
              <a:ext uri="{FF2B5EF4-FFF2-40B4-BE49-F238E27FC236}">
                <a16:creationId xmlns:a16="http://schemas.microsoft.com/office/drawing/2014/main" id="{1537AF33-AE54-8281-1E55-8E7441A68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568" y="5710557"/>
            <a:ext cx="1764000" cy="1008000"/>
          </a:xfrm>
          <a:prstGeom prst="rect">
            <a:avLst/>
          </a:prstGeom>
        </p:spPr>
      </p:pic>
      <p:pic>
        <p:nvPicPr>
          <p:cNvPr id="5" name="Picture 4" descr="A blue and pink logo&#10;&#10;AI-generated content may be incorrect.">
            <a:extLst>
              <a:ext uri="{FF2B5EF4-FFF2-40B4-BE49-F238E27FC236}">
                <a16:creationId xmlns:a16="http://schemas.microsoft.com/office/drawing/2014/main" id="{95E969E4-D7C8-22C3-5EA2-5109186EE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2" y="6034557"/>
            <a:ext cx="4009950" cy="684000"/>
          </a:xfrm>
          <a:prstGeom prst="rect">
            <a:avLst/>
          </a:prstGeom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2A437BE4-0FC0-5334-1757-78BC80555110}"/>
              </a:ext>
            </a:extLst>
          </p:cNvPr>
          <p:cNvSpPr txBox="1">
            <a:spLocks/>
          </p:cNvSpPr>
          <p:nvPr/>
        </p:nvSpPr>
        <p:spPr>
          <a:xfrm>
            <a:off x="1654432" y="567380"/>
            <a:ext cx="9842244" cy="658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77824">
              <a:spcAft>
                <a:spcPts val="600"/>
              </a:spcAft>
            </a:pPr>
            <a:r>
              <a:rPr lang="en-US" sz="3600" b="1" dirty="0" err="1">
                <a:solidFill>
                  <a:srgbClr val="0070C0"/>
                </a:solidFill>
                <a:effectLst/>
              </a:rPr>
              <a:t>VIrtual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Twins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as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tools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for</a:t>
            </a:r>
            <a:r>
              <a:rPr lang="en-US" sz="3600" b="1" spc="-25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effectLst/>
              </a:rPr>
              <a:t>personalised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effectLst/>
              </a:rPr>
              <a:t>clinicAL</a:t>
            </a:r>
            <a:r>
              <a:rPr lang="en-US" sz="3600" b="1" spc="-25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spc="-20" dirty="0">
                <a:solidFill>
                  <a:srgbClr val="0070C0"/>
                </a:solidFill>
                <a:effectLst/>
              </a:rPr>
              <a:t>care</a:t>
            </a:r>
            <a:endParaRPr lang="en-GB" sz="3600" b="1" dirty="0">
              <a:solidFill>
                <a:srgbClr val="0070C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ntertitel 11">
            <a:extLst>
              <a:ext uri="{FF2B5EF4-FFF2-40B4-BE49-F238E27FC236}">
                <a16:creationId xmlns:a16="http://schemas.microsoft.com/office/drawing/2014/main" id="{2A809078-2A6D-E58A-F124-C4DD51255726}"/>
              </a:ext>
            </a:extLst>
          </p:cNvPr>
          <p:cNvSpPr txBox="1">
            <a:spLocks/>
          </p:cNvSpPr>
          <p:nvPr/>
        </p:nvSpPr>
        <p:spPr>
          <a:xfrm>
            <a:off x="2032070" y="4637082"/>
            <a:ext cx="8371113" cy="959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>
                <a:solidFill>
                  <a:srgbClr val="0070C0"/>
                </a:solidFill>
                <a:ea typeface="+mj-ea"/>
                <a:cs typeface="+mj-cs"/>
              </a:rPr>
              <a:t>Postgraduate Training School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Delft University of Technology, March </a:t>
            </a:r>
            <a:r>
              <a:rPr lang="en-GB" altLang="de-DE" sz="2400" dirty="0"/>
              <a:t>18-21, </a:t>
            </a:r>
            <a:r>
              <a:rPr lang="en-GB" altLang="de-DE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r>
            <a:endParaRPr lang="en-GB" altLang="de-DE" sz="268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025832C0-D256-C0D5-760D-84EE1F97A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2" y="140672"/>
            <a:ext cx="1512000" cy="1512000"/>
          </a:xfrm>
          <a:prstGeom prst="rect">
            <a:avLst/>
          </a:prstGeom>
        </p:spPr>
      </p:pic>
      <p:sp>
        <p:nvSpPr>
          <p:cNvPr id="9" name="Untertitel 11">
            <a:extLst>
              <a:ext uri="{FF2B5EF4-FFF2-40B4-BE49-F238E27FC236}">
                <a16:creationId xmlns:a16="http://schemas.microsoft.com/office/drawing/2014/main" id="{D511A1D1-525D-7F9C-01E0-691EA212862C}"/>
              </a:ext>
            </a:extLst>
          </p:cNvPr>
          <p:cNvSpPr txBox="1">
            <a:spLocks/>
          </p:cNvSpPr>
          <p:nvPr/>
        </p:nvSpPr>
        <p:spPr>
          <a:xfrm>
            <a:off x="951594" y="1766800"/>
            <a:ext cx="10288812" cy="26350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4800" dirty="0"/>
              <a:t>What Complexity of Cardiovascular System Models is Optimal? You choose! 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/>
              <a:t>Dr Beatrice </a:t>
            </a:r>
            <a:r>
              <a:rPr lang="en-GB" altLang="de-DE" dirty="0" err="1"/>
              <a:t>Ghitti</a:t>
            </a:r>
            <a:r>
              <a:rPr lang="en-GB" altLang="de-DE" dirty="0"/>
              <a:t> [</a:t>
            </a:r>
            <a:r>
              <a:rPr lang="en-GB" altLang="de-DE" dirty="0" err="1"/>
              <a:t>beatrice.ghitti@auckland.ac.nz</a:t>
            </a:r>
            <a:r>
              <a:rPr lang="en-GB" altLang="de-DE" dirty="0"/>
              <a:t>]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/>
              <a:t>Dr </a:t>
            </a:r>
            <a:r>
              <a:rPr lang="en-GB" altLang="de-DE" dirty="0" err="1"/>
              <a:t>Finbar</a:t>
            </a:r>
            <a:r>
              <a:rPr lang="en-GB" altLang="de-DE" dirty="0"/>
              <a:t> Argus [</a:t>
            </a:r>
            <a:r>
              <a:rPr lang="en-GB" altLang="de-DE" dirty="0" err="1"/>
              <a:t>finbar.argus@auckland.ac.nz</a:t>
            </a:r>
            <a:r>
              <a:rPr lang="en-GB" alt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733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0BD2-6DAC-AF05-B9D6-083322E0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EFCF5-8321-5D11-7003-89ECFB7F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Outline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206635E-26F9-3370-1E3A-63E0F51A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19177"/>
            <a:ext cx="5836831" cy="46905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PART I</a:t>
            </a:r>
          </a:p>
          <a:p>
            <a:r>
              <a:rPr lang="en-GB" sz="2200" dirty="0"/>
              <a:t>Physiological vs personalized CVS models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An exclusive choice?</a:t>
            </a:r>
          </a:p>
          <a:p>
            <a:r>
              <a:rPr lang="en-GB" sz="2200" dirty="0"/>
              <a:t>Specifying CVS model complexity …you choose!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Anatomical complexity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Anatomical personalisation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Hetero-dimensional models</a:t>
            </a:r>
          </a:p>
          <a:p>
            <a:r>
              <a:rPr lang="en-GB" sz="2200" dirty="0"/>
              <a:t>A modular framework for 0D CVS modelling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Modules and their coupling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…in Circulatory </a:t>
            </a:r>
            <a:r>
              <a:rPr lang="en-GB" sz="2000" dirty="0" err="1"/>
              <a:t>Autogen</a:t>
            </a:r>
            <a:r>
              <a:rPr lang="en-GB" sz="2000" dirty="0"/>
              <a:t> is easier!</a:t>
            </a:r>
            <a:endParaRPr lang="en-GB" sz="2500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B38145DF-4CC3-3CB4-9664-4A73F80D23E7}"/>
              </a:ext>
            </a:extLst>
          </p:cNvPr>
          <p:cNvSpPr txBox="1">
            <a:spLocks/>
          </p:cNvSpPr>
          <p:nvPr/>
        </p:nvSpPr>
        <p:spPr>
          <a:xfrm>
            <a:off x="6820876" y="1019176"/>
            <a:ext cx="5928004" cy="4690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PART II</a:t>
            </a:r>
          </a:p>
          <a:p>
            <a:r>
              <a:rPr lang="en-GB" sz="2200" dirty="0"/>
              <a:t>Circulatory </a:t>
            </a:r>
            <a:r>
              <a:rPr lang="en-GB" sz="2200" dirty="0" err="1"/>
              <a:t>Autogen</a:t>
            </a:r>
            <a:r>
              <a:rPr lang="en-GB" sz="2200" dirty="0"/>
              <a:t> overview</a:t>
            </a:r>
          </a:p>
          <a:p>
            <a:pPr lvl="1">
              <a:buFont typeface="System Font Regular"/>
              <a:buChar char="➥"/>
            </a:pPr>
            <a:r>
              <a:rPr lang="en-GB" sz="2000" dirty="0"/>
              <a:t> Model generation from modules</a:t>
            </a:r>
            <a:endParaRPr lang="en-GB" sz="2200" dirty="0"/>
          </a:p>
          <a:p>
            <a:r>
              <a:rPr lang="en-GB" sz="2200" dirty="0"/>
              <a:t>Circulatory </a:t>
            </a:r>
            <a:r>
              <a:rPr lang="en-GB" sz="2200" dirty="0" err="1"/>
              <a:t>Autogen</a:t>
            </a:r>
            <a:r>
              <a:rPr lang="en-GB" sz="2200" dirty="0"/>
              <a:t> software structure</a:t>
            </a:r>
          </a:p>
          <a:p>
            <a:r>
              <a:rPr lang="en-GB" sz="2200" dirty="0"/>
              <a:t>Circulatory </a:t>
            </a:r>
            <a:r>
              <a:rPr lang="en-GB" sz="2200" dirty="0" err="1"/>
              <a:t>Autogen</a:t>
            </a:r>
            <a:r>
              <a:rPr lang="en-GB" sz="2200" dirty="0"/>
              <a:t> example uses</a:t>
            </a:r>
          </a:p>
        </p:txBody>
      </p:sp>
    </p:spTree>
    <p:extLst>
      <p:ext uri="{BB962C8B-B14F-4D97-AF65-F5344CB8AC3E}">
        <p14:creationId xmlns:p14="http://schemas.microsoft.com/office/powerpoint/2010/main" val="80363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D3D6-FE67-75FB-4773-E0FBFD89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5758E-9F5E-E17C-F343-F4160DF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Physiological</a:t>
            </a:r>
            <a:r>
              <a:rPr lang="en-GB" sz="4000" b="1" dirty="0">
                <a:solidFill>
                  <a:srgbClr val="0070C0"/>
                </a:solidFill>
              </a:rPr>
              <a:t> vs personalized: an exclusive choice?</a:t>
            </a:r>
          </a:p>
        </p:txBody>
      </p:sp>
      <p:pic>
        <p:nvPicPr>
          <p:cNvPr id="5" name="Picture 4" descr="A diagram of the arteries and veins of the head&#10;&#10;AI-generated content may be incorrect.">
            <a:extLst>
              <a:ext uri="{FF2B5EF4-FFF2-40B4-BE49-F238E27FC236}">
                <a16:creationId xmlns:a16="http://schemas.microsoft.com/office/drawing/2014/main" id="{7402C36C-B090-E706-5596-6C31A8CE5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4" y="1125674"/>
            <a:ext cx="6278030" cy="34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diagram of a heart system&#10;&#10;AI-generated content may be incorrect.">
            <a:extLst>
              <a:ext uri="{FF2B5EF4-FFF2-40B4-BE49-F238E27FC236}">
                <a16:creationId xmlns:a16="http://schemas.microsoft.com/office/drawing/2014/main" id="{4EC6270E-F444-B232-EAFB-F32FCA8C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82" y="1125674"/>
            <a:ext cx="4688968" cy="36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FA7054-9142-A423-FCDB-C92672595DAC}"/>
              </a:ext>
            </a:extLst>
          </p:cNvPr>
          <p:cNvSpPr txBox="1"/>
          <p:nvPr/>
        </p:nvSpPr>
        <p:spPr>
          <a:xfrm>
            <a:off x="2433619" y="4570882"/>
            <a:ext cx="189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000" b="1" dirty="0"/>
              <a:t>ADAVN model</a:t>
            </a:r>
            <a:r>
              <a:rPr lang="en-IT" sz="2000" baseline="30000" dirty="0"/>
              <a:t>1</a:t>
            </a:r>
            <a:endParaRPr lang="en-IT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C8F85-FF50-B20D-9574-C5E91BF2BD50}"/>
              </a:ext>
            </a:extLst>
          </p:cNvPr>
          <p:cNvSpPr txBox="1"/>
          <p:nvPr/>
        </p:nvSpPr>
        <p:spPr>
          <a:xfrm>
            <a:off x="7378241" y="4725674"/>
            <a:ext cx="4214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000" dirty="0"/>
              <a:t>A </a:t>
            </a:r>
            <a:r>
              <a:rPr lang="en-IT" sz="2000" b="1" dirty="0"/>
              <a:t>simplified circulatory system model</a:t>
            </a:r>
            <a:r>
              <a:rPr lang="en-IT" sz="2000" baseline="300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993F4-923A-8813-A469-017C8496B93A}"/>
              </a:ext>
            </a:extLst>
          </p:cNvPr>
          <p:cNvSpPr txBox="1"/>
          <p:nvPr/>
        </p:nvSpPr>
        <p:spPr>
          <a:xfrm>
            <a:off x="3869283" y="5378383"/>
            <a:ext cx="4491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4000" dirty="0">
                <a:solidFill>
                  <a:srgbClr val="FF0000"/>
                </a:solidFill>
              </a:rPr>
              <a:t>Find the differences!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0D883B6-E3F8-7AB1-FED2-7E4F5BFD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8" y="6242447"/>
            <a:ext cx="4601653" cy="615553"/>
          </a:xfrm>
        </p:spPr>
        <p:txBody>
          <a:bodyPr/>
          <a:lstStyle/>
          <a:p>
            <a:pPr algn="l"/>
            <a:r>
              <a:rPr lang="en-GB" baseline="30000" dirty="0"/>
              <a:t>1</a:t>
            </a:r>
            <a:r>
              <a:rPr lang="en-IT" sz="1200" dirty="0"/>
              <a:t> taken from Müller et al. (2023), doi: </a:t>
            </a:r>
            <a:r>
              <a:rPr lang="en-GB" sz="1200" b="0" i="0" u="none" strike="noStrike" dirty="0">
                <a:effectLst/>
                <a:latin typeface="MuseoSans"/>
                <a:hlinkClick r:id="rId4"/>
              </a:rPr>
              <a:t>10.3389/fphys.2023.1162391</a:t>
            </a:r>
            <a:endParaRPr lang="en-GB" dirty="0"/>
          </a:p>
          <a:p>
            <a:pPr algn="l"/>
            <a:r>
              <a:rPr lang="en-GB" baseline="30000" dirty="0"/>
              <a:t>2 </a:t>
            </a:r>
            <a:r>
              <a:rPr lang="en-GB" dirty="0"/>
              <a:t> </a:t>
            </a:r>
            <a:r>
              <a:rPr lang="en-IT" sz="1200" dirty="0"/>
              <a:t>taken from Argus et al. (2022), doi: </a:t>
            </a:r>
            <a:r>
              <a:rPr lang="en-GB" sz="1200" b="0" i="0" u="none" strike="noStrike" dirty="0">
                <a:effectLst/>
                <a:latin typeface="MuseoSans"/>
                <a:hlinkClick r:id="rId5"/>
              </a:rPr>
              <a:t>10.3389/fphys.2022.1018134</a:t>
            </a:r>
            <a:endParaRPr lang="en-GB" sz="1200" b="0" i="0" u="none" strike="noStrike" dirty="0">
              <a:effectLst/>
              <a:latin typeface="MuseoSans"/>
            </a:endParaRPr>
          </a:p>
        </p:txBody>
      </p:sp>
    </p:spTree>
    <p:extLst>
      <p:ext uri="{BB962C8B-B14F-4D97-AF65-F5344CB8AC3E}">
        <p14:creationId xmlns:p14="http://schemas.microsoft.com/office/powerpoint/2010/main" val="265614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8F90-E8C5-B538-D717-3436A88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human body&#10;&#10;AI-generated content may be incorrect.">
            <a:extLst>
              <a:ext uri="{FF2B5EF4-FFF2-40B4-BE49-F238E27FC236}">
                <a16:creationId xmlns:a16="http://schemas.microsoft.com/office/drawing/2014/main" id="{DD192F77-8932-8A64-F9E0-06C4DBBBB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7" y="910689"/>
            <a:ext cx="3834467" cy="5040000"/>
          </a:xfrm>
          <a:prstGeom prst="rect">
            <a:avLst/>
          </a:prstGeom>
        </p:spPr>
      </p:pic>
      <p:pic>
        <p:nvPicPr>
          <p:cNvPr id="11" name="Picture 10" descr="A diagram of a human body&#10;&#10;AI-generated content may be incorrect.">
            <a:extLst>
              <a:ext uri="{FF2B5EF4-FFF2-40B4-BE49-F238E27FC236}">
                <a16:creationId xmlns:a16="http://schemas.microsoft.com/office/drawing/2014/main" id="{600C672F-0974-E1CC-12A8-DA6BE5AF1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441" y="6632"/>
            <a:ext cx="2623751" cy="576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42F8015-0719-035C-E73D-C88444B9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Specifying CVS model complexity…</a:t>
            </a:r>
          </a:p>
        </p:txBody>
      </p:sp>
      <p:sp>
        <p:nvSpPr>
          <p:cNvPr id="5" name="Heart 4">
            <a:extLst>
              <a:ext uri="{FF2B5EF4-FFF2-40B4-BE49-F238E27FC236}">
                <a16:creationId xmlns:a16="http://schemas.microsoft.com/office/drawing/2014/main" id="{60CEF70B-2C99-4154-855F-DB697E0D288B}"/>
              </a:ext>
            </a:extLst>
          </p:cNvPr>
          <p:cNvSpPr>
            <a:spLocks noChangeAspect="1"/>
          </p:cNvSpPr>
          <p:nvPr/>
        </p:nvSpPr>
        <p:spPr>
          <a:xfrm>
            <a:off x="5683942" y="2481154"/>
            <a:ext cx="1440000" cy="1440000"/>
          </a:xfrm>
          <a:prstGeom prst="heart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200" dirty="0">
                <a:solidFill>
                  <a:schemeClr val="tx1"/>
                </a:solidFill>
              </a:rPr>
              <a:t>CVS model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C9589E-0E99-4959-DBA7-B5D68B8C6F3A}"/>
              </a:ext>
            </a:extLst>
          </p:cNvPr>
          <p:cNvSpPr/>
          <p:nvPr/>
        </p:nvSpPr>
        <p:spPr>
          <a:xfrm>
            <a:off x="3554171" y="1701010"/>
            <a:ext cx="1717040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Anatomical complexity &amp; personalization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2D658D-DA24-FCDD-AB15-6C6DF668B61D}"/>
              </a:ext>
            </a:extLst>
          </p:cNvPr>
          <p:cNvSpPr/>
          <p:nvPr/>
        </p:nvSpPr>
        <p:spPr>
          <a:xfrm>
            <a:off x="3565824" y="3796255"/>
            <a:ext cx="2162775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Hetero-dimensional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7BAE400-2402-4205-6E6A-679858F1BAB8}"/>
              </a:ext>
            </a:extLst>
          </p:cNvPr>
          <p:cNvSpPr/>
          <p:nvPr/>
        </p:nvSpPr>
        <p:spPr>
          <a:xfrm>
            <a:off x="7228165" y="1632719"/>
            <a:ext cx="1890461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Interactions with other systems</a:t>
            </a:r>
          </a:p>
        </p:txBody>
      </p:sp>
      <p:pic>
        <p:nvPicPr>
          <p:cNvPr id="12" name="Picture 11" descr="A diagram of a human kidney&#10;&#10;AI-generated content may be incorrect.">
            <a:extLst>
              <a:ext uri="{FF2B5EF4-FFF2-40B4-BE49-F238E27FC236}">
                <a16:creationId xmlns:a16="http://schemas.microsoft.com/office/drawing/2014/main" id="{039DF212-7031-4A2D-2766-05F2FBFEA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744" y="3384182"/>
            <a:ext cx="997681" cy="21600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162C3D-4A36-3C3C-5602-4A77D948B7A2}"/>
              </a:ext>
            </a:extLst>
          </p:cNvPr>
          <p:cNvSpPr/>
          <p:nvPr/>
        </p:nvSpPr>
        <p:spPr>
          <a:xfrm>
            <a:off x="6597267" y="4145415"/>
            <a:ext cx="3110893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dirty="0">
                <a:solidFill>
                  <a:schemeClr val="tx1"/>
                </a:solidFill>
              </a:rPr>
              <a:t>Model sophistication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biological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mechanical characteristics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235628E-68B8-FEBA-756C-436C074E9414}"/>
              </a:ext>
            </a:extLst>
          </p:cNvPr>
          <p:cNvSpPr txBox="1">
            <a:spLocks/>
          </p:cNvSpPr>
          <p:nvPr/>
        </p:nvSpPr>
        <p:spPr>
          <a:xfrm>
            <a:off x="4647211" y="5364651"/>
            <a:ext cx="3642918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0070C0"/>
                </a:solidFill>
              </a:rPr>
              <a:t>…you choose!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1B18F65-F58F-602C-5D13-946DA924B666}"/>
              </a:ext>
            </a:extLst>
          </p:cNvPr>
          <p:cNvSpPr/>
          <p:nvPr/>
        </p:nvSpPr>
        <p:spPr>
          <a:xfrm>
            <a:off x="5280603" y="2105078"/>
            <a:ext cx="650240" cy="404442"/>
          </a:xfrm>
          <a:custGeom>
            <a:avLst/>
            <a:gdLst>
              <a:gd name="connsiteX0" fmla="*/ 0 w 650240"/>
              <a:gd name="connsiteY0" fmla="*/ 28522 h 404442"/>
              <a:gd name="connsiteX1" fmla="*/ 447040 w 650240"/>
              <a:gd name="connsiteY1" fmla="*/ 38682 h 404442"/>
              <a:gd name="connsiteX2" fmla="*/ 650240 w 650240"/>
              <a:gd name="connsiteY2" fmla="*/ 404442 h 40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0240" h="404442">
                <a:moveTo>
                  <a:pt x="0" y="28522"/>
                </a:moveTo>
                <a:cubicBezTo>
                  <a:pt x="169333" y="2275"/>
                  <a:pt x="338667" y="-23971"/>
                  <a:pt x="447040" y="38682"/>
                </a:cubicBezTo>
                <a:cubicBezTo>
                  <a:pt x="555413" y="101335"/>
                  <a:pt x="602826" y="252888"/>
                  <a:pt x="650240" y="404442"/>
                </a:cubicBezTo>
              </a:path>
            </a:pathLst>
          </a:custGeom>
          <a:noFill/>
          <a:ln w="31750"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1857A7F5-0515-8CAB-209A-D962F668B15F}"/>
              </a:ext>
            </a:extLst>
          </p:cNvPr>
          <p:cNvSpPr/>
          <p:nvPr/>
        </p:nvSpPr>
        <p:spPr>
          <a:xfrm>
            <a:off x="6759368" y="1899920"/>
            <a:ext cx="461795" cy="589280"/>
          </a:xfrm>
          <a:custGeom>
            <a:avLst/>
            <a:gdLst>
              <a:gd name="connsiteX0" fmla="*/ 4595 w 461795"/>
              <a:gd name="connsiteY0" fmla="*/ 589280 h 589280"/>
              <a:gd name="connsiteX1" fmla="*/ 65555 w 461795"/>
              <a:gd name="connsiteY1" fmla="*/ 162560 h 589280"/>
              <a:gd name="connsiteX2" fmla="*/ 461795 w 461795"/>
              <a:gd name="connsiteY2" fmla="*/ 0 h 58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1795" h="589280">
                <a:moveTo>
                  <a:pt x="4595" y="589280"/>
                </a:moveTo>
                <a:cubicBezTo>
                  <a:pt x="-3025" y="425026"/>
                  <a:pt x="-10645" y="260773"/>
                  <a:pt x="65555" y="162560"/>
                </a:cubicBezTo>
                <a:cubicBezTo>
                  <a:pt x="141755" y="64347"/>
                  <a:pt x="301775" y="32173"/>
                  <a:pt x="461795" y="0"/>
                </a:cubicBezTo>
              </a:path>
            </a:pathLst>
          </a:custGeom>
          <a:noFill/>
          <a:ln w="3175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1F41EC8C-AFA6-CE83-AAA9-F74FDF71823D}"/>
              </a:ext>
            </a:extLst>
          </p:cNvPr>
          <p:cNvSpPr/>
          <p:nvPr/>
        </p:nvSpPr>
        <p:spPr>
          <a:xfrm>
            <a:off x="5723721" y="3690365"/>
            <a:ext cx="386222" cy="529730"/>
          </a:xfrm>
          <a:custGeom>
            <a:avLst/>
            <a:gdLst>
              <a:gd name="connsiteX0" fmla="*/ 386222 w 386222"/>
              <a:gd name="connsiteY0" fmla="*/ 0 h 457200"/>
              <a:gd name="connsiteX1" fmla="*/ 294782 w 386222"/>
              <a:gd name="connsiteY1" fmla="*/ 355600 h 457200"/>
              <a:gd name="connsiteX2" fmla="*/ 142 w 386222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222" h="457200">
                <a:moveTo>
                  <a:pt x="386222" y="0"/>
                </a:moveTo>
                <a:cubicBezTo>
                  <a:pt x="372675" y="139700"/>
                  <a:pt x="359129" y="279400"/>
                  <a:pt x="294782" y="355600"/>
                </a:cubicBezTo>
                <a:cubicBezTo>
                  <a:pt x="230435" y="431800"/>
                  <a:pt x="-6631" y="436880"/>
                  <a:pt x="142" y="457200"/>
                </a:cubicBezTo>
              </a:path>
            </a:pathLst>
          </a:custGeom>
          <a:noFill/>
          <a:ln w="3175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97E610E-036B-2B04-E90E-F1D781D80BB2}"/>
              </a:ext>
            </a:extLst>
          </p:cNvPr>
          <p:cNvSpPr/>
          <p:nvPr/>
        </p:nvSpPr>
        <p:spPr>
          <a:xfrm>
            <a:off x="6804603" y="3586480"/>
            <a:ext cx="538480" cy="568960"/>
          </a:xfrm>
          <a:custGeom>
            <a:avLst/>
            <a:gdLst>
              <a:gd name="connsiteX0" fmla="*/ 0 w 538480"/>
              <a:gd name="connsiteY0" fmla="*/ 0 h 568960"/>
              <a:gd name="connsiteX1" fmla="*/ 386080 w 538480"/>
              <a:gd name="connsiteY1" fmla="*/ 121920 h 568960"/>
              <a:gd name="connsiteX2" fmla="*/ 538480 w 538480"/>
              <a:gd name="connsiteY2" fmla="*/ 56896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480" h="568960">
                <a:moveTo>
                  <a:pt x="0" y="0"/>
                </a:moveTo>
                <a:cubicBezTo>
                  <a:pt x="148166" y="13546"/>
                  <a:pt x="296333" y="27093"/>
                  <a:pt x="386080" y="121920"/>
                </a:cubicBezTo>
                <a:cubicBezTo>
                  <a:pt x="475827" y="216747"/>
                  <a:pt x="507153" y="392853"/>
                  <a:pt x="538480" y="568960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D2151E-A65D-4DAB-F1B5-088974723EFC}"/>
              </a:ext>
            </a:extLst>
          </p:cNvPr>
          <p:cNvSpPr txBox="1"/>
          <p:nvPr/>
        </p:nvSpPr>
        <p:spPr>
          <a:xfrm>
            <a:off x="424808" y="5824851"/>
            <a:ext cx="272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Human circulation system</a:t>
            </a:r>
            <a:r>
              <a:rPr lang="en-GB" baseline="30000" dirty="0">
                <a:solidFill>
                  <a:srgbClr val="000000"/>
                </a:solidFill>
              </a:rPr>
              <a:t>3</a:t>
            </a:r>
            <a:endParaRPr lang="en-IT" baseline="30000" dirty="0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32FDAE7A-D2A9-450C-BB8D-41FC98FD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" y="6349130"/>
            <a:ext cx="6592241" cy="519615"/>
          </a:xfrm>
        </p:spPr>
        <p:txBody>
          <a:bodyPr/>
          <a:lstStyle/>
          <a:p>
            <a:pPr algn="l"/>
            <a:r>
              <a:rPr lang="en-GB" baseline="30000" dirty="0"/>
              <a:t>3</a:t>
            </a:r>
            <a:r>
              <a:rPr lang="en-GB" dirty="0"/>
              <a:t> taken and modified from </a:t>
            </a:r>
            <a:r>
              <a:rPr lang="en-GB" dirty="0">
                <a:hlinkClick r:id="rId6"/>
              </a:rPr>
              <a:t>https://commons.wikimedia.org/wiki/File:Human_circulatory_system.svg</a:t>
            </a:r>
            <a:r>
              <a:rPr lang="en-GB" dirty="0"/>
              <a:t> &amp; </a:t>
            </a:r>
            <a:r>
              <a:rPr lang="en-GB" dirty="0">
                <a:hlinkClick r:id="rId7"/>
              </a:rPr>
              <a:t>https://commons.wikimedia.org/wiki/File:Human_brain_icon.svg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466E8-0B05-2EDF-1A76-FD295AFAB736}"/>
              </a:ext>
            </a:extLst>
          </p:cNvPr>
          <p:cNvSpPr txBox="1"/>
          <p:nvPr/>
        </p:nvSpPr>
        <p:spPr>
          <a:xfrm>
            <a:off x="9256480" y="5559036"/>
            <a:ext cx="2853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dirty="0"/>
              <a:t>Picture courtesy of Peter Hunter</a:t>
            </a:r>
          </a:p>
        </p:txBody>
      </p:sp>
    </p:spTree>
    <p:extLst>
      <p:ext uri="{BB962C8B-B14F-4D97-AF65-F5344CB8AC3E}">
        <p14:creationId xmlns:p14="http://schemas.microsoft.com/office/powerpoint/2010/main" val="71898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F9A0-81FE-BEA3-28D3-682FE44C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250FC-F57B-1631-9FB5-C296F970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An anatomically accurate model: pros and cons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8050D-3A79-6FB1-FC64-3F6CA420BE86}"/>
              </a:ext>
            </a:extLst>
          </p:cNvPr>
          <p:cNvSpPr txBox="1"/>
          <p:nvPr/>
        </p:nvSpPr>
        <p:spPr>
          <a:xfrm>
            <a:off x="1848784" y="5538379"/>
            <a:ext cx="4001608" cy="120032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IT" b="1" dirty="0"/>
              <a:t>Advantages:</a:t>
            </a:r>
          </a:p>
          <a:p>
            <a:pPr marL="285750" indent="-285750">
              <a:buClr>
                <a:srgbClr val="92D05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Hypothesis testing</a:t>
            </a:r>
          </a:p>
          <a:p>
            <a:pPr marL="285750" indent="-285750">
              <a:buClr>
                <a:srgbClr val="92D05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Re-scale to body volume/surface area</a:t>
            </a:r>
          </a:p>
          <a:p>
            <a:pPr marL="285750" indent="-285750">
              <a:buClr>
                <a:srgbClr val="92D05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7AF8C-0409-11DC-8F31-7ED5CBCAB4C3}"/>
              </a:ext>
            </a:extLst>
          </p:cNvPr>
          <p:cNvSpPr txBox="1"/>
          <p:nvPr/>
        </p:nvSpPr>
        <p:spPr>
          <a:xfrm>
            <a:off x="6341609" y="5538379"/>
            <a:ext cx="3496406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T" b="1" dirty="0"/>
              <a:t>Issues/challenges:</a:t>
            </a:r>
          </a:p>
          <a:p>
            <a:pPr marL="285750" indent="-285750">
              <a:buClr>
                <a:srgbClr val="FF000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Computationally expensive</a:t>
            </a:r>
          </a:p>
          <a:p>
            <a:pPr marL="285750" indent="-285750">
              <a:buClr>
                <a:srgbClr val="FF000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How to make it subject-specific?</a:t>
            </a:r>
          </a:p>
          <a:p>
            <a:pPr marL="285750" indent="-285750">
              <a:buClr>
                <a:srgbClr val="FF0000"/>
              </a:buClr>
              <a:buSzPct val="120000"/>
              <a:buFont typeface="Wingdings" pitchFamily="2" charset="2"/>
              <a:buChar char="Ø"/>
            </a:pPr>
            <a:r>
              <a:rPr lang="en-IT" dirty="0"/>
              <a:t>…</a:t>
            </a:r>
          </a:p>
        </p:txBody>
      </p:sp>
      <p:pic>
        <p:nvPicPr>
          <p:cNvPr id="11" name="Picture 10" descr="A diagram of a tree&#10;&#10;AI-generated content may be incorrect.">
            <a:extLst>
              <a:ext uri="{FF2B5EF4-FFF2-40B4-BE49-F238E27FC236}">
                <a16:creationId xmlns:a16="http://schemas.microsoft.com/office/drawing/2014/main" id="{2856BE36-7FF1-BEF2-36CE-C7EF19A08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01" y="897060"/>
            <a:ext cx="8708769" cy="4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EED573-B6AB-2EAC-8080-1B3472746262}"/>
              </a:ext>
            </a:extLst>
          </p:cNvPr>
          <p:cNvSpPr/>
          <p:nvPr/>
        </p:nvSpPr>
        <p:spPr>
          <a:xfrm>
            <a:off x="316388" y="3463982"/>
            <a:ext cx="1961815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Male and female models</a:t>
            </a:r>
            <a:endParaRPr lang="en-IT" sz="16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AB83DD-A4CB-D4E1-4D01-975E9599CB4C}"/>
              </a:ext>
            </a:extLst>
          </p:cNvPr>
          <p:cNvSpPr/>
          <p:nvPr/>
        </p:nvSpPr>
        <p:spPr>
          <a:xfrm>
            <a:off x="125513" y="1402800"/>
            <a:ext cx="1961815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Anatomy/topology definition based on FMA Ontology</a:t>
            </a:r>
            <a:endParaRPr lang="en-IT" sz="1600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EA43E1-D86F-D214-4403-5D6973F54B91}"/>
              </a:ext>
            </a:extLst>
          </p:cNvPr>
          <p:cNvSpPr/>
          <p:nvPr/>
        </p:nvSpPr>
        <p:spPr>
          <a:xfrm>
            <a:off x="9499912" y="1019176"/>
            <a:ext cx="1961815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Regional blood flow distribution and tissue composition</a:t>
            </a:r>
            <a:endParaRPr lang="en-IT" sz="1600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C1F5F61-E2A2-7F85-AB7F-FA65C0B9DA9A}"/>
              </a:ext>
            </a:extLst>
          </p:cNvPr>
          <p:cNvSpPr/>
          <p:nvPr/>
        </p:nvSpPr>
        <p:spPr>
          <a:xfrm>
            <a:off x="9936935" y="2010257"/>
            <a:ext cx="1961815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Anatomical variations</a:t>
            </a:r>
            <a:endParaRPr lang="en-IT" sz="1600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07710A0-A5C3-83B5-73C3-23566D3FF2C1}"/>
              </a:ext>
            </a:extLst>
          </p:cNvPr>
          <p:cNvSpPr/>
          <p:nvPr/>
        </p:nvSpPr>
        <p:spPr>
          <a:xfrm>
            <a:off x="3096132" y="4474472"/>
            <a:ext cx="1961815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Vessel metadata</a:t>
            </a:r>
          </a:p>
          <a:p>
            <a:pPr algn="ctr"/>
            <a:r>
              <a:rPr lang="en-GB" sz="1600" dirty="0">
                <a:solidFill>
                  <a:schemeClr val="tx1"/>
                </a:solidFill>
              </a:rPr>
              <a:t>(diameter, length,…)</a:t>
            </a:r>
            <a:endParaRPr lang="en-IT" sz="1600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30CF63-2533-B4AD-1DC6-F15BA624D2BF}"/>
              </a:ext>
            </a:extLst>
          </p:cNvPr>
          <p:cNvSpPr/>
          <p:nvPr/>
        </p:nvSpPr>
        <p:spPr>
          <a:xfrm>
            <a:off x="125515" y="2433391"/>
            <a:ext cx="2152688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Different stages of increasing anatomical complexity </a:t>
            </a:r>
            <a:endParaRPr lang="en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25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54D9-B79E-0DAA-2257-644C3F4E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13F6F-982D-8161-124D-3F9DBAB5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Anatomical complexity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7BEE8AA-4A3E-1EA3-2A15-D23B39DB3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294608"/>
            <a:ext cx="6011384" cy="5148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A simple </a:t>
            </a:r>
            <a:r>
              <a:rPr lang="en-GB" sz="2200" b="1" dirty="0"/>
              <a:t>adaptable closed-loop CVS model</a:t>
            </a:r>
            <a:r>
              <a:rPr lang="en-GB" sz="2200" dirty="0"/>
              <a:t>:</a:t>
            </a:r>
          </a:p>
          <a:p>
            <a:r>
              <a:rPr lang="en-GB" sz="2200" dirty="0"/>
              <a:t>arterial system network,</a:t>
            </a:r>
          </a:p>
          <a:p>
            <a:r>
              <a:rPr lang="en-GB" sz="2200" dirty="0"/>
              <a:t>terminal compartments,</a:t>
            </a:r>
          </a:p>
          <a:p>
            <a:r>
              <a:rPr lang="en-GB" sz="2200" dirty="0"/>
              <a:t>venous compartments,</a:t>
            </a:r>
          </a:p>
          <a:p>
            <a:r>
              <a:rPr lang="en-GB" sz="2200" dirty="0"/>
              <a:t>heart (heart chambers and valves).</a:t>
            </a:r>
          </a:p>
          <a:p>
            <a:endParaRPr lang="nl-BE" sz="22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6F5C8F-872C-5101-A688-E728B8CF9B73}"/>
              </a:ext>
            </a:extLst>
          </p:cNvPr>
          <p:cNvSpPr/>
          <p:nvPr/>
        </p:nvSpPr>
        <p:spPr>
          <a:xfrm>
            <a:off x="538274" y="4404444"/>
            <a:ext cx="5479755" cy="11672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200" dirty="0">
                <a:solidFill>
                  <a:schemeClr val="tx1"/>
                </a:solidFill>
              </a:rPr>
              <a:t>Decrease in complexity to </a:t>
            </a:r>
            <a:r>
              <a:rPr lang="en-IT" sz="2200" b="1" dirty="0">
                <a:solidFill>
                  <a:schemeClr val="tx1"/>
                </a:solidFill>
              </a:rPr>
              <a:t>ensure models can be calibrated</a:t>
            </a:r>
            <a:r>
              <a:rPr lang="en-IT" sz="2200" dirty="0">
                <a:solidFill>
                  <a:schemeClr val="tx1"/>
                </a:solidFill>
              </a:rPr>
              <a:t> to clinically available, subject-specific data.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3C5A9B24-E421-5643-E191-BF5C15148F2B}"/>
              </a:ext>
            </a:extLst>
          </p:cNvPr>
          <p:cNvSpPr/>
          <p:nvPr/>
        </p:nvSpPr>
        <p:spPr>
          <a:xfrm>
            <a:off x="3062151" y="3546728"/>
            <a:ext cx="432000" cy="7200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D866A-EB94-CDAA-8090-9EBBE23E5ACF}"/>
              </a:ext>
            </a:extLst>
          </p:cNvPr>
          <p:cNvSpPr txBox="1"/>
          <p:nvPr/>
        </p:nvSpPr>
        <p:spPr>
          <a:xfrm>
            <a:off x="234359" y="5709377"/>
            <a:ext cx="608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Example: </a:t>
            </a:r>
            <a:r>
              <a:rPr lang="en-IT" sz="1800" dirty="0"/>
              <a:t>Argus et al. (2022), doi: </a:t>
            </a:r>
            <a:r>
              <a:rPr lang="en-GB" sz="1800" b="0" i="0" u="none" strike="noStrike" dirty="0">
                <a:effectLst/>
                <a:latin typeface="MuseoSans"/>
                <a:hlinkClick r:id="rId2"/>
              </a:rPr>
              <a:t>10.3389/fphys.2022.1018134</a:t>
            </a:r>
            <a:endParaRPr lang="en-IT" dirty="0"/>
          </a:p>
        </p:txBody>
      </p:sp>
      <p:pic>
        <p:nvPicPr>
          <p:cNvPr id="9" name="Picture 8" descr="A diagram of a heart&#10;&#10;AI-generated content may be incorrect.">
            <a:extLst>
              <a:ext uri="{FF2B5EF4-FFF2-40B4-BE49-F238E27FC236}">
                <a16:creationId xmlns:a16="http://schemas.microsoft.com/office/drawing/2014/main" id="{7082101D-606A-842D-19A5-AFA16C02F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434" y="99000"/>
            <a:ext cx="4293009" cy="66600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7310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02E4-D71F-D57C-E472-0CD962D9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C518B9-B4E0-0326-9069-F3B6A0FD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Anatomical (&amp; physiological) personalization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9FD1E8-4AE6-15F4-DA44-8611751A9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025" y="5900584"/>
            <a:ext cx="8678990" cy="8812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A semi-automated workflow for generating </a:t>
            </a:r>
            <a:r>
              <a:rPr lang="en-GB" sz="2000" b="1" dirty="0"/>
              <a:t>cerebrovascular anatomical digital twins</a:t>
            </a:r>
            <a:r>
              <a:rPr lang="en-GB" sz="2000" dirty="0"/>
              <a:t> </a:t>
            </a:r>
            <a:r>
              <a:rPr lang="en-GB" sz="1600" dirty="0"/>
              <a:t>(picture courtesy of </a:t>
            </a:r>
            <a:r>
              <a:rPr lang="en-GB" sz="1600" dirty="0" err="1"/>
              <a:t>Jiantao</a:t>
            </a:r>
            <a:r>
              <a:rPr lang="en-GB" sz="1600" dirty="0"/>
              <a:t> Shen)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dirty="0"/>
              <a:t>+ </a:t>
            </a:r>
            <a:r>
              <a:rPr lang="en-GB" sz="2000" u="sng" dirty="0"/>
              <a:t>Flow personalisation</a:t>
            </a:r>
            <a:r>
              <a:rPr lang="en-GB" sz="2000" dirty="0"/>
              <a:t> </a:t>
            </a:r>
            <a:r>
              <a:rPr lang="en-GB" sz="1800" dirty="0"/>
              <a:t>(</a:t>
            </a:r>
            <a:r>
              <a:rPr lang="en-GB" sz="1600" dirty="0" err="1"/>
              <a:t>Sharifzadeh-Kermani</a:t>
            </a:r>
            <a:r>
              <a:rPr lang="en-GB" sz="1600" dirty="0"/>
              <a:t> et al. (2024), </a:t>
            </a:r>
            <a:r>
              <a:rPr lang="en-GB" sz="1600" dirty="0" err="1"/>
              <a:t>doi</a:t>
            </a:r>
            <a:r>
              <a:rPr lang="en-GB" sz="1600" dirty="0"/>
              <a:t>: </a:t>
            </a:r>
            <a:r>
              <a:rPr lang="en-GB" sz="1600" dirty="0">
                <a:hlinkClick r:id="rId2"/>
              </a:rPr>
              <a:t>10.1007/s10237-024-01908-5</a:t>
            </a:r>
            <a:r>
              <a:rPr lang="en-GB" sz="16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nl-BE" sz="1800" dirty="0"/>
          </a:p>
        </p:txBody>
      </p:sp>
      <p:pic>
        <p:nvPicPr>
          <p:cNvPr id="6" name="Picture 5" descr="A diagram of a diagram of a brain&#10;&#10;AI-generated content may be incorrect.">
            <a:extLst>
              <a:ext uri="{FF2B5EF4-FFF2-40B4-BE49-F238E27FC236}">
                <a16:creationId xmlns:a16="http://schemas.microsoft.com/office/drawing/2014/main" id="{0339845D-5F88-F3F3-D6C4-7E38F56DA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025" y="944570"/>
            <a:ext cx="8678990" cy="486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918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0E89-B59B-0F5E-FCB4-B9CB86A6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1EF7C88-E836-0E59-673C-EF87195D9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53" r="65239" b="51199"/>
          <a:stretch/>
        </p:blipFill>
        <p:spPr>
          <a:xfrm>
            <a:off x="62638" y="4742852"/>
            <a:ext cx="2825650" cy="1512000"/>
          </a:xfrm>
          <a:prstGeom prst="rect">
            <a:avLst/>
          </a:prstGeom>
        </p:spPr>
      </p:pic>
      <p:pic>
        <p:nvPicPr>
          <p:cNvPr id="13" name="Picture 1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2592E577-60B5-6764-9D7A-7F6F0AE88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56"/>
          <a:stretch/>
        </p:blipFill>
        <p:spPr>
          <a:xfrm>
            <a:off x="-1187" y="3377791"/>
            <a:ext cx="3093227" cy="1440000"/>
          </a:xfrm>
          <a:prstGeom prst="rect">
            <a:avLst/>
          </a:prstGeom>
        </p:spPr>
      </p:pic>
      <p:pic>
        <p:nvPicPr>
          <p:cNvPr id="6" name="Picture 5" descr="A white background with a black number&#10;&#10;AI-generated content may be incorrect.">
            <a:extLst>
              <a:ext uri="{FF2B5EF4-FFF2-40B4-BE49-F238E27FC236}">
                <a16:creationId xmlns:a16="http://schemas.microsoft.com/office/drawing/2014/main" id="{BF498CF9-BFB5-D00E-DF7B-5A7DC731D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27"/>
          <a:stretch/>
        </p:blipFill>
        <p:spPr>
          <a:xfrm>
            <a:off x="8693908" y="572766"/>
            <a:ext cx="3498092" cy="18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A088241-667C-DD57-0785-3AFDD37C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Hetero-dimensional CVS models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EF9E61-6A09-A9F5-80C1-A1632534D1DC}"/>
              </a:ext>
            </a:extLst>
          </p:cNvPr>
          <p:cNvGrpSpPr/>
          <p:nvPr/>
        </p:nvGrpSpPr>
        <p:grpSpPr>
          <a:xfrm>
            <a:off x="2681008" y="1295613"/>
            <a:ext cx="6829983" cy="5122324"/>
            <a:chOff x="2198063" y="948420"/>
            <a:chExt cx="6829983" cy="512232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C10E999-7CEF-3697-D02E-B20BB9225488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70AE47D-22C2-1F02-92C2-8125129B5EDF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EB64167-A863-7993-D2FF-1C302DB2999C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9FDE8D-B66C-EBA1-2486-621023E6E0F7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A332883-795C-CB15-6B29-5D2E465A4B2B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FE069D9-E886-F707-30D5-CC29B9A16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A152D6E-9583-D647-06E7-B512CE0AFBB3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loud 18">
              <a:extLst>
                <a:ext uri="{FF2B5EF4-FFF2-40B4-BE49-F238E27FC236}">
                  <a16:creationId xmlns:a16="http://schemas.microsoft.com/office/drawing/2014/main" id="{C22A1486-98E4-4089-E294-235D97733BE2}"/>
                </a:ext>
              </a:extLst>
            </p:cNvPr>
            <p:cNvSpPr/>
            <p:nvPr/>
          </p:nvSpPr>
          <p:spPr>
            <a:xfrm>
              <a:off x="3385392" y="1959208"/>
              <a:ext cx="1978814" cy="914400"/>
            </a:xfrm>
            <a:prstGeom prst="cloud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000" dirty="0">
                  <a:solidFill>
                    <a:schemeClr val="tx1"/>
                  </a:solidFill>
                </a:rPr>
                <a:t>surrogates</a:t>
              </a:r>
            </a:p>
          </p:txBody>
        </p:sp>
      </p:grpSp>
      <p:sp>
        <p:nvSpPr>
          <p:cNvPr id="26" name="Freeform 25">
            <a:extLst>
              <a:ext uri="{FF2B5EF4-FFF2-40B4-BE49-F238E27FC236}">
                <a16:creationId xmlns:a16="http://schemas.microsoft.com/office/drawing/2014/main" id="{3C14F325-4057-32D1-1092-CF8767FB8F6D}"/>
              </a:ext>
            </a:extLst>
          </p:cNvPr>
          <p:cNvSpPr/>
          <p:nvPr/>
        </p:nvSpPr>
        <p:spPr>
          <a:xfrm>
            <a:off x="7942521" y="1052625"/>
            <a:ext cx="978195" cy="606055"/>
          </a:xfrm>
          <a:custGeom>
            <a:avLst/>
            <a:gdLst>
              <a:gd name="connsiteX0" fmla="*/ 0 w 978195"/>
              <a:gd name="connsiteY0" fmla="*/ 606055 h 606055"/>
              <a:gd name="connsiteX1" fmla="*/ 191386 w 978195"/>
              <a:gd name="connsiteY1" fmla="*/ 202018 h 606055"/>
              <a:gd name="connsiteX2" fmla="*/ 978195 w 978195"/>
              <a:gd name="connsiteY2" fmla="*/ 0 h 60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8195" h="606055">
                <a:moveTo>
                  <a:pt x="0" y="606055"/>
                </a:moveTo>
                <a:cubicBezTo>
                  <a:pt x="14177" y="454541"/>
                  <a:pt x="28354" y="303027"/>
                  <a:pt x="191386" y="202018"/>
                </a:cubicBezTo>
                <a:cubicBezTo>
                  <a:pt x="354418" y="101009"/>
                  <a:pt x="666306" y="50504"/>
                  <a:pt x="978195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8A803042-D55E-F5A8-18C7-986F44733627}"/>
              </a:ext>
            </a:extLst>
          </p:cNvPr>
          <p:cNvSpPr/>
          <p:nvPr/>
        </p:nvSpPr>
        <p:spPr>
          <a:xfrm>
            <a:off x="6772940" y="3276399"/>
            <a:ext cx="2190307" cy="455629"/>
          </a:xfrm>
          <a:custGeom>
            <a:avLst/>
            <a:gdLst>
              <a:gd name="connsiteX0" fmla="*/ 0 w 2190307"/>
              <a:gd name="connsiteY0" fmla="*/ 455629 h 455629"/>
              <a:gd name="connsiteX1" fmla="*/ 489097 w 2190307"/>
              <a:gd name="connsiteY1" fmla="*/ 72857 h 455629"/>
              <a:gd name="connsiteX2" fmla="*/ 1499190 w 2190307"/>
              <a:gd name="connsiteY2" fmla="*/ 19694 h 455629"/>
              <a:gd name="connsiteX3" fmla="*/ 2190307 w 2190307"/>
              <a:gd name="connsiteY3" fmla="*/ 306773 h 4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0307" h="455629">
                <a:moveTo>
                  <a:pt x="0" y="455629"/>
                </a:moveTo>
                <a:cubicBezTo>
                  <a:pt x="119616" y="300571"/>
                  <a:pt x="239232" y="145513"/>
                  <a:pt x="489097" y="72857"/>
                </a:cubicBezTo>
                <a:cubicBezTo>
                  <a:pt x="738962" y="201"/>
                  <a:pt x="1215655" y="-19292"/>
                  <a:pt x="1499190" y="19694"/>
                </a:cubicBezTo>
                <a:cubicBezTo>
                  <a:pt x="1782725" y="58680"/>
                  <a:pt x="1986516" y="182726"/>
                  <a:pt x="2190307" y="306773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A2CC497-E65F-C243-313A-2BCA49B81CEA}"/>
              </a:ext>
            </a:extLst>
          </p:cNvPr>
          <p:cNvSpPr/>
          <p:nvPr/>
        </p:nvSpPr>
        <p:spPr>
          <a:xfrm>
            <a:off x="3104707" y="4284920"/>
            <a:ext cx="1127051" cy="851602"/>
          </a:xfrm>
          <a:custGeom>
            <a:avLst/>
            <a:gdLst>
              <a:gd name="connsiteX0" fmla="*/ 1127051 w 1127051"/>
              <a:gd name="connsiteY0" fmla="*/ 839972 h 851602"/>
              <a:gd name="connsiteX1" fmla="*/ 584791 w 1127051"/>
              <a:gd name="connsiteY1" fmla="*/ 829339 h 851602"/>
              <a:gd name="connsiteX2" fmla="*/ 255181 w 1127051"/>
              <a:gd name="connsiteY2" fmla="*/ 637953 h 851602"/>
              <a:gd name="connsiteX3" fmla="*/ 0 w 1127051"/>
              <a:gd name="connsiteY3" fmla="*/ 0 h 85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7051" h="851602">
                <a:moveTo>
                  <a:pt x="1127051" y="839972"/>
                </a:moveTo>
                <a:cubicBezTo>
                  <a:pt x="928577" y="851490"/>
                  <a:pt x="730103" y="863009"/>
                  <a:pt x="584791" y="829339"/>
                </a:cubicBezTo>
                <a:cubicBezTo>
                  <a:pt x="439479" y="795669"/>
                  <a:pt x="352646" y="776176"/>
                  <a:pt x="255181" y="637953"/>
                </a:cubicBezTo>
                <a:cubicBezTo>
                  <a:pt x="157716" y="499730"/>
                  <a:pt x="78858" y="249865"/>
                  <a:pt x="0" y="0"/>
                </a:cubicBezTo>
              </a:path>
            </a:pathLst>
          </a:custGeom>
          <a:noFill/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127051 w 1127051"/>
                      <a:gd name="connsiteY0" fmla="*/ 839972 h 851602"/>
                      <a:gd name="connsiteX1" fmla="*/ 584791 w 1127051"/>
                      <a:gd name="connsiteY1" fmla="*/ 829339 h 851602"/>
                      <a:gd name="connsiteX2" fmla="*/ 255181 w 1127051"/>
                      <a:gd name="connsiteY2" fmla="*/ 637953 h 851602"/>
                      <a:gd name="connsiteX3" fmla="*/ 0 w 1127051"/>
                      <a:gd name="connsiteY3" fmla="*/ 0 h 8516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27051" h="851602" extrusionOk="0">
                        <a:moveTo>
                          <a:pt x="1127051" y="839972"/>
                        </a:moveTo>
                        <a:cubicBezTo>
                          <a:pt x="924808" y="849165"/>
                          <a:pt x="721174" y="866360"/>
                          <a:pt x="584791" y="829339"/>
                        </a:cubicBezTo>
                        <a:cubicBezTo>
                          <a:pt x="443444" y="796504"/>
                          <a:pt x="333726" y="776778"/>
                          <a:pt x="255181" y="637953"/>
                        </a:cubicBezTo>
                        <a:cubicBezTo>
                          <a:pt x="141731" y="515340"/>
                          <a:pt x="65328" y="324651"/>
                          <a:pt x="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9F7089D-24B1-3D81-0F0B-8F5BFA40ED06}"/>
              </a:ext>
            </a:extLst>
          </p:cNvPr>
          <p:cNvSpPr/>
          <p:nvPr/>
        </p:nvSpPr>
        <p:spPr>
          <a:xfrm>
            <a:off x="2836180" y="5209953"/>
            <a:ext cx="1406211" cy="265814"/>
          </a:xfrm>
          <a:custGeom>
            <a:avLst/>
            <a:gdLst>
              <a:gd name="connsiteX0" fmla="*/ 1406211 w 1406211"/>
              <a:gd name="connsiteY0" fmla="*/ 0 h 265814"/>
              <a:gd name="connsiteX1" fmla="*/ 640667 w 1406211"/>
              <a:gd name="connsiteY1" fmla="*/ 10633 h 265814"/>
              <a:gd name="connsiteX2" fmla="*/ 162201 w 1406211"/>
              <a:gd name="connsiteY2" fmla="*/ 127591 h 265814"/>
              <a:gd name="connsiteX3" fmla="*/ 2713 w 1406211"/>
              <a:gd name="connsiteY3" fmla="*/ 265814 h 26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6211" h="265814">
                <a:moveTo>
                  <a:pt x="1406211" y="0"/>
                </a:moveTo>
                <a:lnTo>
                  <a:pt x="640667" y="10633"/>
                </a:lnTo>
                <a:cubicBezTo>
                  <a:pt x="433332" y="31898"/>
                  <a:pt x="268527" y="85061"/>
                  <a:pt x="162201" y="127591"/>
                </a:cubicBezTo>
                <a:cubicBezTo>
                  <a:pt x="55875" y="170121"/>
                  <a:pt x="-15008" y="242777"/>
                  <a:pt x="2713" y="265814"/>
                </a:cubicBezTo>
              </a:path>
            </a:pathLst>
          </a:custGeom>
          <a:noFill/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0" name="Picture 9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A445677-836C-DC66-71CF-FB1DEF214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78"/>
          <a:stretch/>
        </p:blipFill>
        <p:spPr>
          <a:xfrm>
            <a:off x="8998363" y="3011508"/>
            <a:ext cx="319363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0D_model_schematic.png"/>
          <p:cNvGrpSpPr/>
          <p:nvPr/>
        </p:nvGrpSpPr>
        <p:grpSpPr>
          <a:xfrm>
            <a:off x="2266107" y="4240668"/>
            <a:ext cx="3053497" cy="1383679"/>
            <a:chOff x="0" y="0"/>
            <a:chExt cx="3392773" cy="1537420"/>
          </a:xfrm>
        </p:grpSpPr>
        <p:pic>
          <p:nvPicPr>
            <p:cNvPr id="27" name="0D_model_schematic.png" descr="0D_model_schematic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7000" y="88900"/>
              <a:ext cx="3138774" cy="120722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6" name="0D_model_schematic.png" descr="0D_model_schematic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3392774" cy="1537421"/>
            </a:xfrm>
            <a:prstGeom prst="rect">
              <a:avLst/>
            </a:prstGeom>
            <a:effectLst/>
          </p:spPr>
        </p:pic>
      </p:grpSp>
      <p:pic>
        <p:nvPicPr>
          <p:cNvPr id="29" name="55art_abs (Converted).mov" descr="55art_abs (Converted).mov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125301" y="1984729"/>
            <a:ext cx="2570049" cy="2283931"/>
          </a:xfrm>
          <a:prstGeom prst="rect">
            <a:avLst/>
          </a:prstGeom>
        </p:spPr>
      </p:pic>
      <p:pic>
        <p:nvPicPr>
          <p:cNvPr id="30" name="droppedImage.pdf" descr="droppedImage.pd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1410" y="719001"/>
            <a:ext cx="4871145" cy="59036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droppedImage.pdf" descr="droppedImage.pd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1410" y="719001"/>
            <a:ext cx="4871145" cy="59036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droppedImage.pdf" descr="droppedImage.pd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2850" y="810441"/>
            <a:ext cx="4871145" cy="59036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droppedImage.pdf" descr="droppedImage.pd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5441" y="-12519"/>
            <a:ext cx="5474971" cy="663545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droppedImage.pdf" descr="droppedImage.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2870" y="136071"/>
            <a:ext cx="4355456" cy="7085707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Line"/>
          <p:cNvSpPr/>
          <p:nvPr/>
        </p:nvSpPr>
        <p:spPr>
          <a:xfrm>
            <a:off x="2175507" y="5812003"/>
            <a:ext cx="810151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080"/>
          </a:p>
        </p:txBody>
      </p:sp>
      <p:sp>
        <p:nvSpPr>
          <p:cNvPr id="36" name="Line"/>
          <p:cNvSpPr/>
          <p:nvPr/>
        </p:nvSpPr>
        <p:spPr>
          <a:xfrm flipV="1">
            <a:off x="2180511" y="726676"/>
            <a:ext cx="1852" cy="509537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080"/>
          </a:p>
        </p:txBody>
      </p:sp>
      <p:sp>
        <p:nvSpPr>
          <p:cNvPr id="37" name="Global Features"/>
          <p:cNvSpPr txBox="1"/>
          <p:nvPr/>
        </p:nvSpPr>
        <p:spPr>
          <a:xfrm>
            <a:off x="3060713" y="5991062"/>
            <a:ext cx="1760221" cy="36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defRPr sz="2100"/>
            </a:lvl1pPr>
          </a:lstStyle>
          <a:p>
            <a:r>
              <a:rPr sz="1890"/>
              <a:t>Global Features</a:t>
            </a:r>
          </a:p>
        </p:txBody>
      </p:sp>
      <p:sp>
        <p:nvSpPr>
          <p:cNvPr id="38" name="Local Features"/>
          <p:cNvSpPr txBox="1"/>
          <p:nvPr/>
        </p:nvSpPr>
        <p:spPr>
          <a:xfrm>
            <a:off x="8089913" y="5991062"/>
            <a:ext cx="1760221" cy="36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defRPr sz="2100"/>
            </a:lvl1pPr>
          </a:lstStyle>
          <a:p>
            <a:r>
              <a:rPr sz="1890"/>
              <a:t>Local Features</a:t>
            </a:r>
          </a:p>
        </p:txBody>
      </p:sp>
      <p:sp>
        <p:nvSpPr>
          <p:cNvPr id="39" name="1-D Models"/>
          <p:cNvSpPr txBox="1"/>
          <p:nvPr/>
        </p:nvSpPr>
        <p:spPr>
          <a:xfrm>
            <a:off x="5848550" y="4365438"/>
            <a:ext cx="1122423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 anchor="ctr">
            <a:spAutoFit/>
          </a:bodyPr>
          <a:lstStyle>
            <a:lvl1pPr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710"/>
              <a:t>1-D Models</a:t>
            </a:r>
          </a:p>
        </p:txBody>
      </p:sp>
      <p:sp>
        <p:nvSpPr>
          <p:cNvPr id="40" name="3-D Models"/>
          <p:cNvSpPr txBox="1"/>
          <p:nvPr/>
        </p:nvSpPr>
        <p:spPr>
          <a:xfrm>
            <a:off x="8529063" y="2798797"/>
            <a:ext cx="1122423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 anchor="ctr">
            <a:spAutoFit/>
          </a:bodyPr>
          <a:lstStyle>
            <a:lvl1pPr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710"/>
              <a:t>3-D Models</a:t>
            </a:r>
          </a:p>
        </p:txBody>
      </p:sp>
      <p:sp>
        <p:nvSpPr>
          <p:cNvPr id="41" name="0-D Models"/>
          <p:cNvSpPr txBox="1"/>
          <p:nvPr/>
        </p:nvSpPr>
        <p:spPr>
          <a:xfrm>
            <a:off x="3231080" y="5466600"/>
            <a:ext cx="1122423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 anchor="ctr">
            <a:spAutoFit/>
          </a:bodyPr>
          <a:lstStyle>
            <a:lvl1pPr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710"/>
              <a:t>0-D Models</a:t>
            </a:r>
          </a:p>
        </p:txBody>
      </p:sp>
      <p:pic>
        <p:nvPicPr>
          <p:cNvPr id="42" name="Steinman_60carotid.mpeg" descr="Steinman_60carotid.mpeg"/>
          <p:cNvPicPr>
            <a:picLocks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913370" y="959031"/>
            <a:ext cx="2346961" cy="1760220"/>
          </a:xfrm>
          <a:prstGeom prst="rect">
            <a:avLst/>
          </a:prstGeom>
        </p:spPr>
      </p:pic>
      <p:sp>
        <p:nvSpPr>
          <p:cNvPr id="43" name="Courtesy of Steinman’s lab"/>
          <p:cNvSpPr txBox="1"/>
          <p:nvPr/>
        </p:nvSpPr>
        <p:spPr>
          <a:xfrm>
            <a:off x="8216929" y="3049382"/>
            <a:ext cx="248031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350"/>
              <a:t>Courtesy of Steinman’s lab</a:t>
            </a:r>
          </a:p>
        </p:txBody>
      </p:sp>
      <p:sp>
        <p:nvSpPr>
          <p:cNvPr id="47" name="Computational cost"/>
          <p:cNvSpPr txBox="1"/>
          <p:nvPr/>
        </p:nvSpPr>
        <p:spPr>
          <a:xfrm rot="16200000">
            <a:off x="387666" y="2992314"/>
            <a:ext cx="2911504" cy="34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lnSpc>
                <a:spcPct val="80000"/>
              </a:lnSpc>
              <a:defRPr sz="2400" b="1" spc="-24"/>
            </a:lvl1pPr>
          </a:lstStyle>
          <a:p>
            <a:r>
              <a:rPr sz="2160" dirty="0"/>
              <a:t>Computational cost</a:t>
            </a:r>
          </a:p>
        </p:txBody>
      </p:sp>
      <p:sp>
        <p:nvSpPr>
          <p:cNvPr id="48" name="(seconds)"/>
          <p:cNvSpPr txBox="1"/>
          <p:nvPr/>
        </p:nvSpPr>
        <p:spPr>
          <a:xfrm rot="16200000">
            <a:off x="1181498" y="5016405"/>
            <a:ext cx="1323840" cy="34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lnSpc>
                <a:spcPct val="80000"/>
              </a:lnSpc>
              <a:defRPr sz="2400"/>
            </a:lvl1pPr>
          </a:lstStyle>
          <a:p>
            <a:r>
              <a:rPr sz="2160"/>
              <a:t>(seconds)</a:t>
            </a:r>
          </a:p>
        </p:txBody>
      </p:sp>
      <p:sp>
        <p:nvSpPr>
          <p:cNvPr id="49" name="(hours)"/>
          <p:cNvSpPr txBox="1"/>
          <p:nvPr/>
        </p:nvSpPr>
        <p:spPr>
          <a:xfrm rot="16200000">
            <a:off x="1181498" y="1118775"/>
            <a:ext cx="1323840" cy="34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lnSpc>
                <a:spcPct val="80000"/>
              </a:lnSpc>
              <a:defRPr sz="2400"/>
            </a:lvl1pPr>
          </a:lstStyle>
          <a:p>
            <a:r>
              <a:rPr sz="2160" dirty="0"/>
              <a:t>(hours)</a:t>
            </a:r>
          </a:p>
        </p:txBody>
      </p:sp>
      <p:sp>
        <p:nvSpPr>
          <p:cNvPr id="50" name="Accuracy"/>
          <p:cNvSpPr txBox="1"/>
          <p:nvPr/>
        </p:nvSpPr>
        <p:spPr>
          <a:xfrm>
            <a:off x="5723051" y="5941265"/>
            <a:ext cx="1261949" cy="424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20" tIns="45720" rIns="45720" bIns="45720" anchor="ctr">
            <a:spAutoFit/>
          </a:bodyPr>
          <a:lstStyle>
            <a:lvl1pPr>
              <a:defRPr sz="2400" b="1"/>
            </a:lvl1pPr>
          </a:lstStyle>
          <a:p>
            <a:r>
              <a:rPr sz="2160"/>
              <a:t>Accuracy</a:t>
            </a:r>
          </a:p>
        </p:txBody>
      </p:sp>
      <p:sp>
        <p:nvSpPr>
          <p:cNvPr id="52" name="Alastruey, et al., Am J Physiol Heart Circ Physiol 325:H1–H29, 2023"/>
          <p:cNvSpPr txBox="1"/>
          <p:nvPr/>
        </p:nvSpPr>
        <p:spPr>
          <a:xfrm>
            <a:off x="5050819" y="6518038"/>
            <a:ext cx="5646421" cy="249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/>
          <a:p>
            <a:pPr algn="r"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170" dirty="0" err="1"/>
              <a:t>Alastruey</a:t>
            </a:r>
            <a:r>
              <a:rPr sz="1170" dirty="0"/>
              <a:t>, et al.,</a:t>
            </a:r>
            <a:r>
              <a:rPr sz="1170" i="1" dirty="0"/>
              <a:t> Am J </a:t>
            </a:r>
            <a:r>
              <a:rPr sz="1170" i="1" dirty="0" err="1"/>
              <a:t>Physiol</a:t>
            </a:r>
            <a:r>
              <a:rPr sz="1170" i="1" dirty="0"/>
              <a:t> Heart Circ </a:t>
            </a:r>
            <a:r>
              <a:rPr sz="1170" i="1" dirty="0" err="1"/>
              <a:t>Physiol</a:t>
            </a:r>
            <a:r>
              <a:rPr sz="1170" dirty="0"/>
              <a:t> 325:H1–H29, 2023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0F423B-CCCC-7142-469E-E5FC5D9257CD}"/>
              </a:ext>
            </a:extLst>
          </p:cNvPr>
          <p:cNvGrpSpPr/>
          <p:nvPr/>
        </p:nvGrpSpPr>
        <p:grpSpPr>
          <a:xfrm>
            <a:off x="4347210" y="1897021"/>
            <a:ext cx="7275397" cy="2570128"/>
            <a:chOff x="4347210" y="1646650"/>
            <a:chExt cx="7275397" cy="2570128"/>
          </a:xfrm>
        </p:grpSpPr>
        <p:grpSp>
          <p:nvGrpSpPr>
            <p:cNvPr id="46" name="Group"/>
            <p:cNvGrpSpPr/>
            <p:nvPr/>
          </p:nvGrpSpPr>
          <p:grpSpPr>
            <a:xfrm>
              <a:off x="4347210" y="1646650"/>
              <a:ext cx="7207170" cy="2411732"/>
              <a:chOff x="0" y="455975"/>
              <a:chExt cx="8007963" cy="2679701"/>
            </a:xfrm>
          </p:grpSpPr>
          <p:sp>
            <p:nvSpPr>
              <p:cNvPr id="44" name="Oval"/>
              <p:cNvSpPr/>
              <p:nvPr/>
            </p:nvSpPr>
            <p:spPr>
              <a:xfrm>
                <a:off x="0" y="455975"/>
                <a:ext cx="4584700" cy="2679701"/>
              </a:xfrm>
              <a:prstGeom prst="ellipse">
                <a:avLst/>
              </a:prstGeom>
              <a:noFill/>
              <a:ln w="381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34290" tIns="34290" rIns="34290" bIns="34290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700"/>
              </a:p>
            </p:txBody>
          </p:sp>
          <p:sp>
            <p:nvSpPr>
              <p:cNvPr id="45" name="Good for pulse wave signals!"/>
              <p:cNvSpPr txBox="1"/>
              <p:nvPr/>
            </p:nvSpPr>
            <p:spPr>
              <a:xfrm>
                <a:off x="4619828" y="2128353"/>
                <a:ext cx="3388135" cy="4001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4290" tIns="34290" rIns="34290" bIns="34290" numCol="1" anchor="ctr">
                <a:spAutoFit/>
              </a:bodyPr>
              <a:lstStyle>
                <a:lvl1pPr>
                  <a:defRPr sz="2100">
                    <a:solidFill>
                      <a:srgbClr val="FF2600"/>
                    </a:solidFill>
                  </a:defRPr>
                </a:lvl1pPr>
              </a:lstStyle>
              <a:p>
                <a:r>
                  <a:rPr sz="1890" dirty="0"/>
                  <a:t>Good for pulse wave signals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BEA11CE-43C2-A0B4-B6F9-1DE574650BEB}"/>
                </a:ext>
              </a:extLst>
            </p:cNvPr>
            <p:cNvSpPr txBox="1"/>
            <p:nvPr/>
          </p:nvSpPr>
          <p:spPr>
            <a:xfrm>
              <a:off x="8229178" y="3570447"/>
              <a:ext cx="3393429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fr-CH" dirty="0"/>
                <a:t>Lecture </a:t>
              </a:r>
              <a:r>
                <a:rPr lang="fr-CH" dirty="0" err="1"/>
                <a:t>tomorrow</a:t>
              </a:r>
              <a:r>
                <a:rPr lang="fr-CH" dirty="0"/>
                <a:t> 8h45-12h30</a:t>
              </a:r>
            </a:p>
            <a:p>
              <a:pPr algn="ctr"/>
              <a:r>
                <a:rPr lang="fr-CH" dirty="0"/>
                <a:t>on 0D/1D circulation </a:t>
              </a:r>
              <a:r>
                <a:rPr lang="fr-CH" dirty="0" err="1"/>
                <a:t>modelling</a:t>
              </a:r>
              <a:r>
                <a:rPr lang="fr-CH" dirty="0"/>
                <a:t>!</a:t>
              </a:r>
              <a:endParaRPr lang="en-US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7A0678B1-406D-513E-E5B3-C93BC1209DAE}"/>
              </a:ext>
            </a:extLst>
          </p:cNvPr>
          <p:cNvSpPr txBox="1">
            <a:spLocks/>
          </p:cNvSpPr>
          <p:nvPr/>
        </p:nvSpPr>
        <p:spPr>
          <a:xfrm>
            <a:off x="400050" y="101147"/>
            <a:ext cx="11430000" cy="863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200" b="1" dirty="0">
                <a:solidFill>
                  <a:srgbClr val="0070C0"/>
                </a:solidFill>
              </a:rPr>
              <a:t>Arterial Blood Flow Modelling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89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14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prevAc="none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100000">
                <p:cTn id="24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3BC0-7B68-F3E9-F947-29EBFC08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2B4FB-FCC1-B209-A164-84F39511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Hetero-dimensional CVS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77374-C17B-308C-A088-4002934E9D7D}"/>
              </a:ext>
            </a:extLst>
          </p:cNvPr>
          <p:cNvSpPr txBox="1"/>
          <p:nvPr/>
        </p:nvSpPr>
        <p:spPr>
          <a:xfrm>
            <a:off x="873939" y="5494782"/>
            <a:ext cx="448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A </a:t>
            </a:r>
            <a:r>
              <a:rPr lang="en-IT" b="1" dirty="0"/>
              <a:t>1D-0D</a:t>
            </a:r>
            <a:r>
              <a:rPr lang="en-IT" dirty="0"/>
              <a:t> closed-loop global circulation model</a:t>
            </a:r>
            <a:r>
              <a:rPr lang="en-IT" baseline="30000" dirty="0"/>
              <a:t>5</a:t>
            </a:r>
          </a:p>
        </p:txBody>
      </p:sp>
      <p:pic>
        <p:nvPicPr>
          <p:cNvPr id="6" name="Picture 5" descr="A blue human body with a line drawn on it&#10;&#10;AI-generated content may be incorrect.">
            <a:extLst>
              <a:ext uri="{FF2B5EF4-FFF2-40B4-BE49-F238E27FC236}">
                <a16:creationId xmlns:a16="http://schemas.microsoft.com/office/drawing/2014/main" id="{D6550984-2ED0-40C1-B071-DECFAE9E7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01" y="944387"/>
            <a:ext cx="4232265" cy="45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739569-CFEB-1177-0C70-4D6C8971527E}"/>
              </a:ext>
            </a:extLst>
          </p:cNvPr>
          <p:cNvSpPr txBox="1"/>
          <p:nvPr/>
        </p:nvSpPr>
        <p:spPr>
          <a:xfrm>
            <a:off x="6294096" y="5494782"/>
            <a:ext cx="500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A </a:t>
            </a:r>
            <a:r>
              <a:rPr lang="en-GB" b="1" i="0" u="none" strike="noStrike" dirty="0">
                <a:solidFill>
                  <a:srgbClr val="222222"/>
                </a:solidFill>
                <a:effectLst/>
              </a:rPr>
              <a:t>3D-1D</a:t>
            </a:r>
            <a:r>
              <a:rPr lang="en-GB" b="0" i="0" u="none" strike="noStrike" dirty="0">
                <a:solidFill>
                  <a:srgbClr val="222222"/>
                </a:solidFill>
                <a:effectLst/>
              </a:rPr>
              <a:t> model of left ventricle and arterial system</a:t>
            </a:r>
            <a:r>
              <a:rPr lang="en-IT" baseline="30000" dirty="0"/>
              <a:t>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090B4D0-F8C6-48A5-2F12-88CB6502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283842"/>
            <a:ext cx="6234302" cy="562879"/>
          </a:xfrm>
        </p:spPr>
        <p:txBody>
          <a:bodyPr/>
          <a:lstStyle/>
          <a:p>
            <a:pPr algn="l"/>
            <a:r>
              <a:rPr lang="en-GB" baseline="30000" dirty="0"/>
              <a:t>5</a:t>
            </a:r>
            <a:r>
              <a:rPr lang="en-GB" dirty="0"/>
              <a:t> taken from Toro et al. (2022),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i="0" u="none" strike="noStrike" dirty="0">
                <a:effectLst/>
                <a:hlinkClick r:id="rId3"/>
              </a:rPr>
              <a:t>10.1002/cnm.3532</a:t>
            </a:r>
            <a:r>
              <a:rPr lang="en-GB" dirty="0"/>
              <a:t>
</a:t>
            </a:r>
            <a:r>
              <a:rPr lang="en-GB" baseline="30000" dirty="0"/>
              <a:t>6</a:t>
            </a:r>
            <a:r>
              <a:rPr lang="en-GB" dirty="0"/>
              <a:t> taken from </a:t>
            </a:r>
            <a:r>
              <a:rPr lang="en-GB" dirty="0" err="1"/>
              <a:t>Caforio</a:t>
            </a:r>
            <a:r>
              <a:rPr lang="en-GB" dirty="0"/>
              <a:t> et al. (2022),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b="0" i="0" u="none" strike="noStrike" dirty="0">
                <a:solidFill>
                  <a:srgbClr val="0071BC"/>
                </a:solidFill>
                <a:effectLst/>
                <a:latin typeface="BlinkMacSystemFont"/>
                <a:hlinkClick r:id="rId4"/>
              </a:rPr>
              <a:t>10.1007/s00466-022-02206-6</a:t>
            </a:r>
            <a:endParaRPr lang="en-GB" dirty="0"/>
          </a:p>
        </p:txBody>
      </p:sp>
      <p:pic>
        <p:nvPicPr>
          <p:cNvPr id="4" name="Picture 3" descr="A diagram of a diagram of human body&#10;&#10;AI-generated content may be incorrect.">
            <a:extLst>
              <a:ext uri="{FF2B5EF4-FFF2-40B4-BE49-F238E27FC236}">
                <a16:creationId xmlns:a16="http://schemas.microsoft.com/office/drawing/2014/main" id="{ABFBA1FA-32DC-51C2-4ABC-F679F42340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00" y="944387"/>
            <a:ext cx="4788301" cy="45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182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38CD-028E-62A9-277E-765C6F60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A82C4-4954-93C6-349B-6539D631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0D CVS modelling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5E970E-8321-AA4D-44B8-57377A0E4AF2}"/>
              </a:ext>
            </a:extLst>
          </p:cNvPr>
          <p:cNvGrpSpPr/>
          <p:nvPr/>
        </p:nvGrpSpPr>
        <p:grpSpPr>
          <a:xfrm>
            <a:off x="1140572" y="1343470"/>
            <a:ext cx="9000000" cy="1800000"/>
            <a:chOff x="1266391" y="1962028"/>
            <a:chExt cx="9000000" cy="1800000"/>
          </a:xfrm>
        </p:grpSpPr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D6AA3D85-BE93-E749-006F-712799F5BA7D}"/>
                </a:ext>
              </a:extLst>
            </p:cNvPr>
            <p:cNvSpPr/>
            <p:nvPr/>
          </p:nvSpPr>
          <p:spPr>
            <a:xfrm>
              <a:off x="1266391" y="2683828"/>
              <a:ext cx="9000000" cy="360000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C70734F-65B2-FF8F-2F32-61F7EA9D1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49991" y="2503828"/>
              <a:ext cx="948660" cy="720000"/>
            </a:xfrm>
            <a:prstGeom prst="roundRect">
              <a:avLst/>
            </a:prstGeom>
            <a:gradFill>
              <a:gsLst>
                <a:gs pos="0">
                  <a:srgbClr val="FF0000">
                    <a:tint val="66000"/>
                    <a:satMod val="160000"/>
                    <a:lumMod val="0"/>
                    <a:lumOff val="10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</a:gra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5BD4A97-E5AD-AD39-EED4-3CB5D5371CFE}"/>
                </a:ext>
              </a:extLst>
            </p:cNvPr>
            <p:cNvSpPr/>
            <p:nvPr/>
          </p:nvSpPr>
          <p:spPr>
            <a:xfrm>
              <a:off x="4815991" y="2500228"/>
              <a:ext cx="950400" cy="723600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  <a:lumMod val="0"/>
                    <a:lumOff val="100000"/>
                  </a:schemeClr>
                </a:gs>
                <a:gs pos="50000">
                  <a:schemeClr val="accent4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4">
                    <a:lumMod val="60000"/>
                    <a:lumOff val="4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4A4570B-C8B4-A292-B23D-E706848827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8219" y="1962028"/>
              <a:ext cx="2180000" cy="18000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40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AA7241-EBE1-B49B-AEE9-21A16DEFAC55}"/>
              </a:ext>
            </a:extLst>
          </p:cNvPr>
          <p:cNvSpPr/>
          <p:nvPr/>
        </p:nvSpPr>
        <p:spPr>
          <a:xfrm>
            <a:off x="3093781" y="3891999"/>
            <a:ext cx="7815521" cy="19668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200" dirty="0">
                <a:solidFill>
                  <a:schemeClr val="tx1"/>
                </a:solidFill>
              </a:rPr>
              <a:t>A </a:t>
            </a:r>
            <a:r>
              <a:rPr lang="en-GB" sz="2200" b="1" dirty="0">
                <a:solidFill>
                  <a:schemeClr val="tx1"/>
                </a:solidFill>
              </a:rPr>
              <a:t>modular framework</a:t>
            </a:r>
            <a:r>
              <a:rPr lang="en-GB" sz="2200" dirty="0">
                <a:solidFill>
                  <a:schemeClr val="tx1"/>
                </a:solidFill>
              </a:rPr>
              <a:t> for 0D CVS modelling: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</a:rPr>
              <a:t>modules based on lumped-parameter BG models;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tx1"/>
                </a:solidFill>
              </a:rPr>
              <a:t>modularisation</a:t>
            </a:r>
            <a:r>
              <a:rPr lang="en-GB" sz="2200" dirty="0">
                <a:solidFill>
                  <a:schemeClr val="tx1"/>
                </a:solidFill>
              </a:rPr>
              <a:t> to create arbitrary topology circulation system models for specific subjects/clinical applications;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</a:rPr>
              <a:t>computational efficiency.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829AE50-26D9-4A86-374C-1358D04B6AED}"/>
              </a:ext>
            </a:extLst>
          </p:cNvPr>
          <p:cNvSpPr/>
          <p:nvPr/>
        </p:nvSpPr>
        <p:spPr>
          <a:xfrm>
            <a:off x="6540986" y="3157870"/>
            <a:ext cx="2263693" cy="723014"/>
          </a:xfrm>
          <a:custGeom>
            <a:avLst/>
            <a:gdLst>
              <a:gd name="connsiteX0" fmla="*/ 2124549 w 2263693"/>
              <a:gd name="connsiteY0" fmla="*/ 0 h 723014"/>
              <a:gd name="connsiteX1" fmla="*/ 2124549 w 2263693"/>
              <a:gd name="connsiteY1" fmla="*/ 265814 h 723014"/>
              <a:gd name="connsiteX2" fmla="*/ 678521 w 2263693"/>
              <a:gd name="connsiteY2" fmla="*/ 202019 h 723014"/>
              <a:gd name="connsiteX3" fmla="*/ 93730 w 2263693"/>
              <a:gd name="connsiteY3" fmla="*/ 308344 h 723014"/>
              <a:gd name="connsiteX4" fmla="*/ 8670 w 2263693"/>
              <a:gd name="connsiteY4" fmla="*/ 723014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693" h="723014">
                <a:moveTo>
                  <a:pt x="2124549" y="0"/>
                </a:moveTo>
                <a:cubicBezTo>
                  <a:pt x="2245051" y="116072"/>
                  <a:pt x="2365554" y="232144"/>
                  <a:pt x="2124549" y="265814"/>
                </a:cubicBezTo>
                <a:cubicBezTo>
                  <a:pt x="1883544" y="299484"/>
                  <a:pt x="1016991" y="194931"/>
                  <a:pt x="678521" y="202019"/>
                </a:cubicBezTo>
                <a:cubicBezTo>
                  <a:pt x="340051" y="209107"/>
                  <a:pt x="205372" y="221512"/>
                  <a:pt x="93730" y="308344"/>
                </a:cubicBezTo>
                <a:cubicBezTo>
                  <a:pt x="-17912" y="395177"/>
                  <a:pt x="-4621" y="559095"/>
                  <a:pt x="8670" y="723014"/>
                </a:cubicBezTo>
              </a:path>
            </a:pathLst>
          </a:custGeom>
          <a:noFill/>
          <a:ln w="762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923C220-EE3B-3521-8753-0B6B3073F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39"/>
          <a:stretch/>
        </p:blipFill>
        <p:spPr>
          <a:xfrm>
            <a:off x="173668" y="3435416"/>
            <a:ext cx="2709555" cy="288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292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E787-24AD-C31C-C92C-E3B7722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0B8C8EC7-913B-50CC-5B4B-27C4803B58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836880"/>
            <a:ext cx="10392264" cy="594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BFB0D04-140E-57FA-12F5-39409E0B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Modules, heaps of modules (!), and their coupling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CAA4A08-E125-4373-FC65-9291283E0252}"/>
              </a:ext>
            </a:extLst>
          </p:cNvPr>
          <p:cNvSpPr/>
          <p:nvPr/>
        </p:nvSpPr>
        <p:spPr>
          <a:xfrm>
            <a:off x="4906586" y="1482067"/>
            <a:ext cx="3066014" cy="10415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>
                <a:solidFill>
                  <a:schemeClr val="tx1"/>
                </a:solidFill>
              </a:rPr>
              <a:t>BG modular framework</a:t>
            </a:r>
            <a:r>
              <a:rPr lang="en-GB" sz="2200" dirty="0">
                <a:solidFill>
                  <a:schemeClr val="tx1"/>
                </a:solidFill>
              </a:rPr>
              <a:t> for CVS modelling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E81B3B-85E4-6CB9-4A1E-12ADDF6120B6}"/>
              </a:ext>
            </a:extLst>
          </p:cNvPr>
          <p:cNvSpPr/>
          <p:nvPr/>
        </p:nvSpPr>
        <p:spPr>
          <a:xfrm>
            <a:off x="1981007" y="1570821"/>
            <a:ext cx="2340000" cy="864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>
                <a:solidFill>
                  <a:schemeClr val="tx1"/>
                </a:solidFill>
              </a:rPr>
              <a:t>Modules</a:t>
            </a:r>
            <a:r>
              <a:rPr lang="en-IT" dirty="0">
                <a:solidFill>
                  <a:schemeClr val="tx1"/>
                </a:solidFill>
              </a:rPr>
              <a:t> for different CVS components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17EAFF-01DA-D8AF-93FD-97B460B2E23E}"/>
              </a:ext>
            </a:extLst>
          </p:cNvPr>
          <p:cNvSpPr/>
          <p:nvPr/>
        </p:nvSpPr>
        <p:spPr>
          <a:xfrm>
            <a:off x="2953371" y="2988624"/>
            <a:ext cx="2340000" cy="8636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>
                <a:solidFill>
                  <a:schemeClr val="tx1"/>
                </a:solidFill>
              </a:rPr>
              <a:t>Different modules</a:t>
            </a:r>
            <a:r>
              <a:rPr lang="en-IT" dirty="0">
                <a:solidFill>
                  <a:schemeClr val="tx1"/>
                </a:solidFill>
              </a:rPr>
              <a:t> for a CVS component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B5E1C7-F68D-E6D7-4446-F07CD43DB860}"/>
              </a:ext>
            </a:extLst>
          </p:cNvPr>
          <p:cNvSpPr/>
          <p:nvPr/>
        </p:nvSpPr>
        <p:spPr>
          <a:xfrm>
            <a:off x="8452690" y="1715487"/>
            <a:ext cx="3066014" cy="864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BG modules </a:t>
            </a:r>
            <a:r>
              <a:rPr lang="en-IT" b="1" dirty="0">
                <a:solidFill>
                  <a:schemeClr val="tx1"/>
                </a:solidFill>
              </a:rPr>
              <a:t>coupled via</a:t>
            </a:r>
            <a:r>
              <a:rPr lang="en-IT" dirty="0">
                <a:solidFill>
                  <a:schemeClr val="tx1"/>
                </a:solidFill>
              </a:rPr>
              <a:t> each module </a:t>
            </a:r>
            <a:r>
              <a:rPr lang="en-IT" b="1" dirty="0">
                <a:solidFill>
                  <a:schemeClr val="tx1"/>
                </a:solidFill>
              </a:rPr>
              <a:t>port variables </a:t>
            </a:r>
            <a:r>
              <a:rPr lang="en-IT" dirty="0">
                <a:solidFill>
                  <a:schemeClr val="tx1"/>
                </a:solidFill>
              </a:rPr>
              <a:t>(BCs)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1C576E-26AB-8F31-D6A3-0ADD96F109A3}"/>
              </a:ext>
            </a:extLst>
          </p:cNvPr>
          <p:cNvSpPr>
            <a:spLocks/>
          </p:cNvSpPr>
          <p:nvPr/>
        </p:nvSpPr>
        <p:spPr>
          <a:xfrm>
            <a:off x="6585010" y="3095456"/>
            <a:ext cx="2520000" cy="123897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T" b="1" dirty="0">
                <a:solidFill>
                  <a:schemeClr val="tx1"/>
                </a:solidFill>
              </a:rPr>
              <a:t>Coupling</a:t>
            </a:r>
            <a:r>
              <a:rPr lang="en-IT" dirty="0">
                <a:solidFill>
                  <a:schemeClr val="tx1"/>
                </a:solidFill>
              </a:rPr>
              <a:t> must preserve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m</a:t>
            </a:r>
            <a:r>
              <a:rPr lang="en-IT" b="1" dirty="0">
                <a:solidFill>
                  <a:schemeClr val="tx1"/>
                </a:solidFill>
              </a:rPr>
              <a:t>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e</a:t>
            </a:r>
            <a:r>
              <a:rPr lang="en-IT" b="1" dirty="0">
                <a:solidFill>
                  <a:schemeClr val="tx1"/>
                </a:solidFill>
              </a:rPr>
              <a:t>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/>
                </a:solidFill>
              </a:rPr>
              <a:t>[…]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4EE097C-3DDA-0FC7-0DE8-567E65CA320B}"/>
              </a:ext>
            </a:extLst>
          </p:cNvPr>
          <p:cNvSpPr/>
          <p:nvPr/>
        </p:nvSpPr>
        <p:spPr>
          <a:xfrm>
            <a:off x="4330802" y="1779876"/>
            <a:ext cx="584791" cy="106524"/>
          </a:xfrm>
          <a:custGeom>
            <a:avLst/>
            <a:gdLst>
              <a:gd name="connsiteX0" fmla="*/ 584791 w 584791"/>
              <a:gd name="connsiteY0" fmla="*/ 106524 h 106524"/>
              <a:gd name="connsiteX1" fmla="*/ 340242 w 584791"/>
              <a:gd name="connsiteY1" fmla="*/ 199 h 106524"/>
              <a:gd name="connsiteX2" fmla="*/ 0 w 584791"/>
              <a:gd name="connsiteY2" fmla="*/ 85259 h 10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4791" h="106524">
                <a:moveTo>
                  <a:pt x="584791" y="106524"/>
                </a:moveTo>
                <a:cubicBezTo>
                  <a:pt x="511249" y="55133"/>
                  <a:pt x="437707" y="3743"/>
                  <a:pt x="340242" y="199"/>
                </a:cubicBezTo>
                <a:cubicBezTo>
                  <a:pt x="242777" y="-3345"/>
                  <a:pt x="121388" y="40957"/>
                  <a:pt x="0" y="85259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F5DA8AA-83DE-F3C1-3726-A2DE9557938E}"/>
              </a:ext>
            </a:extLst>
          </p:cNvPr>
          <p:cNvSpPr/>
          <p:nvPr/>
        </p:nvSpPr>
        <p:spPr>
          <a:xfrm>
            <a:off x="7984858" y="2077580"/>
            <a:ext cx="467832" cy="144222"/>
          </a:xfrm>
          <a:custGeom>
            <a:avLst/>
            <a:gdLst>
              <a:gd name="connsiteX0" fmla="*/ 0 w 467832"/>
              <a:gd name="connsiteY0" fmla="*/ 144222 h 144222"/>
              <a:gd name="connsiteX1" fmla="*/ 233916 w 467832"/>
              <a:gd name="connsiteY1" fmla="*/ 5999 h 144222"/>
              <a:gd name="connsiteX2" fmla="*/ 467832 w 467832"/>
              <a:gd name="connsiteY2" fmla="*/ 37897 h 144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7832" h="144222">
                <a:moveTo>
                  <a:pt x="0" y="144222"/>
                </a:moveTo>
                <a:cubicBezTo>
                  <a:pt x="77972" y="83971"/>
                  <a:pt x="155944" y="23720"/>
                  <a:pt x="233916" y="5999"/>
                </a:cubicBezTo>
                <a:cubicBezTo>
                  <a:pt x="311888" y="-11722"/>
                  <a:pt x="389860" y="13087"/>
                  <a:pt x="467832" y="37897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7C92F5F-3842-48D8-1CE8-CD1EAD8F16C4}"/>
              </a:ext>
            </a:extLst>
          </p:cNvPr>
          <p:cNvSpPr/>
          <p:nvPr/>
        </p:nvSpPr>
        <p:spPr>
          <a:xfrm>
            <a:off x="7193161" y="2524354"/>
            <a:ext cx="740973" cy="574158"/>
          </a:xfrm>
          <a:custGeom>
            <a:avLst/>
            <a:gdLst>
              <a:gd name="connsiteX0" fmla="*/ 19065 w 740973"/>
              <a:gd name="connsiteY0" fmla="*/ 0 h 574158"/>
              <a:gd name="connsiteX1" fmla="*/ 72227 w 740973"/>
              <a:gd name="connsiteY1" fmla="*/ 191386 h 574158"/>
              <a:gd name="connsiteX2" fmla="*/ 603855 w 740973"/>
              <a:gd name="connsiteY2" fmla="*/ 329609 h 574158"/>
              <a:gd name="connsiteX3" fmla="*/ 731446 w 740973"/>
              <a:gd name="connsiteY3" fmla="*/ 574158 h 57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973" h="574158">
                <a:moveTo>
                  <a:pt x="19065" y="0"/>
                </a:moveTo>
                <a:cubicBezTo>
                  <a:pt x="-3087" y="68225"/>
                  <a:pt x="-25238" y="136451"/>
                  <a:pt x="72227" y="191386"/>
                </a:cubicBezTo>
                <a:cubicBezTo>
                  <a:pt x="169692" y="246321"/>
                  <a:pt x="493985" y="265814"/>
                  <a:pt x="603855" y="329609"/>
                </a:cubicBezTo>
                <a:cubicBezTo>
                  <a:pt x="713725" y="393404"/>
                  <a:pt x="763344" y="549349"/>
                  <a:pt x="731446" y="574158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0DC8495-CCC2-DB49-F616-50BDBBFC2331}"/>
              </a:ext>
            </a:extLst>
          </p:cNvPr>
          <p:cNvSpPr/>
          <p:nvPr/>
        </p:nvSpPr>
        <p:spPr>
          <a:xfrm>
            <a:off x="3214384" y="2439293"/>
            <a:ext cx="770792" cy="542261"/>
          </a:xfrm>
          <a:custGeom>
            <a:avLst/>
            <a:gdLst>
              <a:gd name="connsiteX0" fmla="*/ 0 w 770792"/>
              <a:gd name="connsiteY0" fmla="*/ 0 h 542261"/>
              <a:gd name="connsiteX1" fmla="*/ 212651 w 770792"/>
              <a:gd name="connsiteY1" fmla="*/ 233916 h 542261"/>
              <a:gd name="connsiteX2" fmla="*/ 691116 w 770792"/>
              <a:gd name="connsiteY2" fmla="*/ 308344 h 542261"/>
              <a:gd name="connsiteX3" fmla="*/ 765544 w 770792"/>
              <a:gd name="connsiteY3" fmla="*/ 542261 h 54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792" h="542261">
                <a:moveTo>
                  <a:pt x="0" y="0"/>
                </a:moveTo>
                <a:cubicBezTo>
                  <a:pt x="48732" y="91262"/>
                  <a:pt x="97465" y="182525"/>
                  <a:pt x="212651" y="233916"/>
                </a:cubicBezTo>
                <a:cubicBezTo>
                  <a:pt x="327837" y="285307"/>
                  <a:pt x="598967" y="256953"/>
                  <a:pt x="691116" y="308344"/>
                </a:cubicBezTo>
                <a:cubicBezTo>
                  <a:pt x="783265" y="359735"/>
                  <a:pt x="774404" y="450998"/>
                  <a:pt x="765544" y="542261"/>
                </a:cubicBezTo>
              </a:path>
            </a:pathLst>
          </a:cu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158246-2246-B754-1DBE-7057192BE38B}"/>
              </a:ext>
            </a:extLst>
          </p:cNvPr>
          <p:cNvGrpSpPr/>
          <p:nvPr/>
        </p:nvGrpSpPr>
        <p:grpSpPr>
          <a:xfrm>
            <a:off x="727807" y="3420424"/>
            <a:ext cx="2225564" cy="1754326"/>
            <a:chOff x="63799" y="2893473"/>
            <a:chExt cx="2225564" cy="17543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521288-72E8-1939-0162-A7EF51E4B6FB}"/>
                </a:ext>
              </a:extLst>
            </p:cNvPr>
            <p:cNvSpPr txBox="1"/>
            <p:nvPr/>
          </p:nvSpPr>
          <p:spPr>
            <a:xfrm>
              <a:off x="217706" y="2893473"/>
              <a:ext cx="2071657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v</a:t>
              </a:r>
              <a:r>
                <a:rPr lang="en-IT" dirty="0"/>
                <a:t>essels (art/ven)</a:t>
              </a:r>
            </a:p>
            <a:p>
              <a:r>
                <a:rPr lang="en-GB" dirty="0"/>
                <a:t>h</a:t>
              </a:r>
              <a:r>
                <a:rPr lang="en-IT" dirty="0"/>
                <a:t>eart</a:t>
              </a:r>
            </a:p>
            <a:p>
              <a:r>
                <a:rPr lang="en-IT" dirty="0"/>
                <a:t>capillary beds</a:t>
              </a:r>
            </a:p>
            <a:p>
              <a:r>
                <a:rPr lang="en-GB" dirty="0"/>
                <a:t>v</a:t>
              </a:r>
              <a:r>
                <a:rPr lang="en-IT" dirty="0"/>
                <a:t>essel properties</a:t>
              </a:r>
            </a:p>
            <a:p>
              <a:r>
                <a:rPr lang="en-GB" dirty="0"/>
                <a:t>c</a:t>
              </a:r>
              <a:r>
                <a:rPr lang="en-IT" dirty="0"/>
                <a:t>ontrol mechanisms</a:t>
              </a:r>
            </a:p>
            <a:p>
              <a:r>
                <a:rPr lang="en-IT" dirty="0"/>
                <a:t>…</a:t>
              </a: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C567CEEE-0B54-9171-FB73-C52D9ED9B223}"/>
                </a:ext>
              </a:extLst>
            </p:cNvPr>
            <p:cNvSpPr/>
            <p:nvPr/>
          </p:nvSpPr>
          <p:spPr>
            <a:xfrm>
              <a:off x="63799" y="2932636"/>
              <a:ext cx="217706" cy="167599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A2CE1FC2-06C4-996C-9E5F-8DAC8C94AE13}"/>
              </a:ext>
            </a:extLst>
          </p:cNvPr>
          <p:cNvSpPr/>
          <p:nvPr/>
        </p:nvSpPr>
        <p:spPr>
          <a:xfrm>
            <a:off x="1576970" y="2428661"/>
            <a:ext cx="1435395" cy="956930"/>
          </a:xfrm>
          <a:custGeom>
            <a:avLst/>
            <a:gdLst>
              <a:gd name="connsiteX0" fmla="*/ 1435395 w 1435395"/>
              <a:gd name="connsiteY0" fmla="*/ 0 h 956930"/>
              <a:gd name="connsiteX1" fmla="*/ 1020725 w 1435395"/>
              <a:gd name="connsiteY1" fmla="*/ 297711 h 956930"/>
              <a:gd name="connsiteX2" fmla="*/ 170121 w 1435395"/>
              <a:gd name="connsiteY2" fmla="*/ 435935 h 956930"/>
              <a:gd name="connsiteX3" fmla="*/ 0 w 1435395"/>
              <a:gd name="connsiteY3" fmla="*/ 956930 h 9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5395" h="956930">
                <a:moveTo>
                  <a:pt x="1435395" y="0"/>
                </a:moveTo>
                <a:cubicBezTo>
                  <a:pt x="1333499" y="112527"/>
                  <a:pt x="1231604" y="225055"/>
                  <a:pt x="1020725" y="297711"/>
                </a:cubicBezTo>
                <a:cubicBezTo>
                  <a:pt x="809846" y="370367"/>
                  <a:pt x="340242" y="326065"/>
                  <a:pt x="170121" y="435935"/>
                </a:cubicBezTo>
                <a:cubicBezTo>
                  <a:pt x="0" y="545805"/>
                  <a:pt x="0" y="751367"/>
                  <a:pt x="0" y="95693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3EFCEE5-D43F-DE9D-C300-286DB92F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2978" y="6328380"/>
            <a:ext cx="4722480" cy="365125"/>
          </a:xfrm>
        </p:spPr>
        <p:txBody>
          <a:bodyPr/>
          <a:lstStyle/>
          <a:p>
            <a:r>
              <a:rPr lang="en-GB" dirty="0"/>
              <a:t>Picture taken from </a:t>
            </a:r>
            <a:r>
              <a:rPr lang="en-GB" dirty="0" err="1"/>
              <a:t>Safaei</a:t>
            </a:r>
            <a:r>
              <a:rPr lang="en-GB" dirty="0"/>
              <a:t> et al. (2018),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b="0" i="0" u="none" strike="noStrike" dirty="0">
                <a:effectLst/>
                <a:hlinkClick r:id="rId3"/>
              </a:rPr>
              <a:t>10.3389/fphys.2018.00148</a:t>
            </a:r>
            <a:endParaRPr lang="en-GB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420F23D-7E92-59ED-F167-3A07E1FE60D8}"/>
              </a:ext>
            </a:extLst>
          </p:cNvPr>
          <p:cNvSpPr/>
          <p:nvPr/>
        </p:nvSpPr>
        <p:spPr>
          <a:xfrm>
            <a:off x="3012365" y="5000146"/>
            <a:ext cx="3228947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dirty="0">
                <a:solidFill>
                  <a:schemeClr val="tx1"/>
                </a:solidFill>
              </a:rPr>
              <a:t>Integrated whole-body physiology models from cellular to organ and system levels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68A36966-4426-73C3-E603-81264087983C}"/>
              </a:ext>
            </a:extLst>
          </p:cNvPr>
          <p:cNvSpPr/>
          <p:nvPr/>
        </p:nvSpPr>
        <p:spPr>
          <a:xfrm>
            <a:off x="4981658" y="2519914"/>
            <a:ext cx="1157305" cy="2466753"/>
          </a:xfrm>
          <a:custGeom>
            <a:avLst/>
            <a:gdLst>
              <a:gd name="connsiteX0" fmla="*/ 1015105 w 1157305"/>
              <a:gd name="connsiteY0" fmla="*/ 0 h 2466753"/>
              <a:gd name="connsiteX1" fmla="*/ 1089533 w 1157305"/>
              <a:gd name="connsiteY1" fmla="*/ 1435395 h 2466753"/>
              <a:gd name="connsiteX2" fmla="*/ 164500 w 1157305"/>
              <a:gd name="connsiteY2" fmla="*/ 2137144 h 2466753"/>
              <a:gd name="connsiteX3" fmla="*/ 5012 w 1157305"/>
              <a:gd name="connsiteY3" fmla="*/ 2466753 h 246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305" h="2466753">
                <a:moveTo>
                  <a:pt x="1015105" y="0"/>
                </a:moveTo>
                <a:cubicBezTo>
                  <a:pt x="1123202" y="539602"/>
                  <a:pt x="1231300" y="1079204"/>
                  <a:pt x="1089533" y="1435395"/>
                </a:cubicBezTo>
                <a:cubicBezTo>
                  <a:pt x="947766" y="1791586"/>
                  <a:pt x="345253" y="1965251"/>
                  <a:pt x="164500" y="2137144"/>
                </a:cubicBezTo>
                <a:cubicBezTo>
                  <a:pt x="-16253" y="2309037"/>
                  <a:pt x="-5621" y="2387895"/>
                  <a:pt x="5012" y="2466753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01176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19EA-4941-E51B-C214-E9BB183D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B63D5-F652-2081-C1FC-346826D9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Modules, heaps of modules (!), and their coupling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BD62D3-10A3-45E6-504B-982EE08FDE23}"/>
              </a:ext>
            </a:extLst>
          </p:cNvPr>
          <p:cNvSpPr txBox="1"/>
          <p:nvPr/>
        </p:nvSpPr>
        <p:spPr>
          <a:xfrm>
            <a:off x="505195" y="932045"/>
            <a:ext cx="8986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dirty="0"/>
              <a:t>1) Define each module’s </a:t>
            </a:r>
            <a:r>
              <a:rPr lang="en-IT" sz="2400" b="1" dirty="0"/>
              <a:t>port variables </a:t>
            </a:r>
            <a:r>
              <a:rPr lang="en-IT" sz="2400" dirty="0"/>
              <a:t>(BCs) for connectivity/coupling </a:t>
            </a:r>
          </a:p>
        </p:txBody>
      </p:sp>
      <p:pic>
        <p:nvPicPr>
          <p:cNvPr id="5" name="Picture 4" descr="A diagram of a complex circuit&#10;&#10;AI-generated content may be incorrect.">
            <a:extLst>
              <a:ext uri="{FF2B5EF4-FFF2-40B4-BE49-F238E27FC236}">
                <a16:creationId xmlns:a16="http://schemas.microsoft.com/office/drawing/2014/main" id="{53922BDC-1B06-DD29-8BB2-EEB154C93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69"/>
          <a:stretch/>
        </p:blipFill>
        <p:spPr>
          <a:xfrm>
            <a:off x="3454799" y="1464778"/>
            <a:ext cx="5282401" cy="280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ADC56C7D-6335-AD1B-FAD2-29223048F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54"/>
          <a:stretch/>
        </p:blipFill>
        <p:spPr>
          <a:xfrm>
            <a:off x="2951323" y="4343846"/>
            <a:ext cx="6327454" cy="244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534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44CD-1E68-9A7E-BF3B-D4CE6DC6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DC18F-E34B-A319-6E87-9F77B644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Modules, heaps of modules (!), and their coupling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AAC95-01D5-2F6E-8B00-9FB5B31560B2}"/>
              </a:ext>
            </a:extLst>
          </p:cNvPr>
          <p:cNvSpPr txBox="1"/>
          <p:nvPr/>
        </p:nvSpPr>
        <p:spPr>
          <a:xfrm>
            <a:off x="400050" y="902214"/>
            <a:ext cx="3899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dirty="0"/>
              <a:t>2) Define each module’s </a:t>
            </a:r>
            <a:r>
              <a:rPr lang="en-IT" sz="2400" b="1" dirty="0"/>
              <a:t>type</a:t>
            </a:r>
            <a:r>
              <a:rPr lang="en-IT" sz="2400" dirty="0"/>
              <a:t> </a:t>
            </a:r>
          </a:p>
        </p:txBody>
      </p:sp>
      <p:pic>
        <p:nvPicPr>
          <p:cNvPr id="15" name="Content Placeholder 14" descr="A diagram of a connection&#10;&#10;AI-generated content may be incorrect.">
            <a:extLst>
              <a:ext uri="{FF2B5EF4-FFF2-40B4-BE49-F238E27FC236}">
                <a16:creationId xmlns:a16="http://schemas.microsoft.com/office/drawing/2014/main" id="{18F03A90-0486-AC12-D103-7DE7CAFC3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3" r="22228"/>
          <a:stretch/>
        </p:blipFill>
        <p:spPr>
          <a:xfrm>
            <a:off x="2272166" y="1427550"/>
            <a:ext cx="3585137" cy="2592000"/>
          </a:xfrm>
          <a:ln>
            <a:solidFill>
              <a:schemeClr val="tx1"/>
            </a:solidFill>
          </a:ln>
        </p:spPr>
      </p:pic>
      <p:pic>
        <p:nvPicPr>
          <p:cNvPr id="18" name="Picture 17" descr="A diagram of a diagram&#10;&#10;AI-generated content may be incorrect.">
            <a:extLst>
              <a:ext uri="{FF2B5EF4-FFF2-40B4-BE49-F238E27FC236}">
                <a16:creationId xmlns:a16="http://schemas.microsoft.com/office/drawing/2014/main" id="{5A6CCF8B-A7B3-AF71-597F-81F4B2012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3" r="16054"/>
          <a:stretch/>
        </p:blipFill>
        <p:spPr>
          <a:xfrm>
            <a:off x="6334699" y="1427550"/>
            <a:ext cx="4346400" cy="2592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18A164E5-C662-0F10-E61B-974D52025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6" r="12936"/>
          <a:stretch/>
        </p:blipFill>
        <p:spPr>
          <a:xfrm>
            <a:off x="3677314" y="4134450"/>
            <a:ext cx="4830584" cy="259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9795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1EDF96A2-D86F-5D79-90BD-A5C92968BB1E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077785" y="1367436"/>
            <a:ext cx="8077201" cy="816769"/>
          </a:xfrm>
        </p:spPr>
        <p:txBody>
          <a:bodyPr>
            <a:normAutofit fontScale="90000"/>
          </a:bodyPr>
          <a:lstStyle/>
          <a:p>
            <a:r>
              <a:rPr lang="en-GB" b="1" noProof="0" dirty="0"/>
              <a:t>…any questions?!?</a:t>
            </a:r>
          </a:p>
        </p:txBody>
      </p:sp>
      <p:sp>
        <p:nvSpPr>
          <p:cNvPr id="9" name="Untertitel 3">
            <a:extLst>
              <a:ext uri="{FF2B5EF4-FFF2-40B4-BE49-F238E27FC236}">
                <a16:creationId xmlns:a16="http://schemas.microsoft.com/office/drawing/2014/main" id="{441B1AE5-2051-383D-79BF-F348C6DC633A}"/>
              </a:ext>
            </a:extLst>
          </p:cNvPr>
          <p:cNvSpPr txBox="1">
            <a:spLocks/>
          </p:cNvSpPr>
          <p:nvPr/>
        </p:nvSpPr>
        <p:spPr>
          <a:xfrm>
            <a:off x="1077785" y="3429000"/>
            <a:ext cx="8074025" cy="600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/>
          </a:p>
        </p:txBody>
      </p:sp>
      <p:pic>
        <p:nvPicPr>
          <p:cNvPr id="5" name="Picture 4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A43AFB3B-8436-467E-696A-C6B5044EB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543" y="262992"/>
            <a:ext cx="2479376" cy="24793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8D6D216-492B-19A0-61D5-C3C40BADE3C5}"/>
              </a:ext>
            </a:extLst>
          </p:cNvPr>
          <p:cNvSpPr txBox="1">
            <a:spLocks/>
          </p:cNvSpPr>
          <p:nvPr/>
        </p:nvSpPr>
        <p:spPr>
          <a:xfrm>
            <a:off x="1077785" y="3298864"/>
            <a:ext cx="9554772" cy="8167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/>
              <a:t>Time for Circulatory </a:t>
            </a:r>
            <a:r>
              <a:rPr lang="en-GB" sz="5400" b="1" dirty="0" err="1"/>
              <a:t>Autogen</a:t>
            </a:r>
            <a:r>
              <a:rPr lang="en-GB" sz="5400" b="1" dirty="0"/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3409642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e6dd45-dc0c-4449-9f13-3936c694fe1a" xsi:nil="true"/>
    <lcf76f155ced4ddcb4097134ff3c332f xmlns="383c046b-be39-43b0-8602-9678373d7545">
      <Terms xmlns="http://schemas.microsoft.com/office/infopath/2007/PartnerControls"/>
    </lcf76f155ced4ddcb4097134ff3c332f>
    <Date xmlns="383c046b-be39-43b0-8602-9678373d7545" xsi:nil="true"/>
    <gce1a0dcbf834c08a9bff69d6bcbc0aa xmlns="383c046b-be39-43b0-8602-9678373d7545">
      <Terms xmlns="http://schemas.microsoft.com/office/infopath/2007/PartnerControls"/>
    </gce1a0dcbf834c08a9bff69d6bcbc0aa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472F9BCB2335438FD2987C080340E8" ma:contentTypeVersion="14" ma:contentTypeDescription="Create a new document." ma:contentTypeScope="" ma:versionID="8a45e8f2194de1afec2c0d9d9f7836ab">
  <xsd:schema xmlns:xsd="http://www.w3.org/2001/XMLSchema" xmlns:xs="http://www.w3.org/2001/XMLSchema" xmlns:p="http://schemas.microsoft.com/office/2006/metadata/properties" xmlns:ns2="383c046b-be39-43b0-8602-9678373d7545" xmlns:ns3="46e6dd45-dc0c-4449-9f13-3936c694fe1a" targetNamespace="http://schemas.microsoft.com/office/2006/metadata/properties" ma:root="true" ma:fieldsID="1f90321940ecd57c5d5c002dd45725e7" ns2:_="" ns3:_="">
    <xsd:import namespace="383c046b-be39-43b0-8602-9678373d7545"/>
    <xsd:import namespace="46e6dd45-dc0c-4449-9f13-3936c694fe1a"/>
    <xsd:element name="properties">
      <xsd:complexType>
        <xsd:sequence>
          <xsd:element name="documentManagement">
            <xsd:complexType>
              <xsd:all>
                <xsd:element ref="ns2:gce1a0dcbf834c08a9bff69d6bcbc0aa" minOccurs="0"/>
                <xsd:element ref="ns2:Date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3c046b-be39-43b0-8602-9678373d7545" elementFormDefault="qualified">
    <xsd:import namespace="http://schemas.microsoft.com/office/2006/documentManagement/types"/>
    <xsd:import namespace="http://schemas.microsoft.com/office/infopath/2007/PartnerControls"/>
    <xsd:element name="gce1a0dcbf834c08a9bff69d6bcbc0aa" ma:index="8" nillable="true" ma:taxonomy="true" ma:internalName="gce1a0dcbf834c08a9bff69d6bcbc0aa" ma:taxonomyFieldName="DocType" ma:displayName="DocType" ma:default="" ma:fieldId="{0ce1a0dc-bf83-4c08-a9bf-f69d6bcbc0aa}" ma:taxonomyMulti="true" ma:sspId="3b9bb814-139f-4039-9463-697760f06ab3" ma:termSetId="e358f958-33b6-43f5-826e-145d408a495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e" ma:index="9" nillable="true" ma:displayName="Date" ma:format="DateOnly" ma:internalName="Date">
      <xsd:simpleType>
        <xsd:restriction base="dms:DateTim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9bb814-139f-4039-9463-697760f06a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dd45-dc0c-4449-9f13-3936c694fe1a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a4058b3c-9d7b-4b78-92e7-da9c5a709d96}" ma:internalName="TaxCatchAll" ma:showField="CatchAllData" ma:web="46e6dd45-dc0c-4449-9f13-3936c694fe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22DAC6-CB89-422B-8A04-BFCFB133BA76}">
  <ds:schemaRefs>
    <ds:schemaRef ds:uri="383c046b-be39-43b0-8602-9678373d7545"/>
    <ds:schemaRef ds:uri="46e6dd45-dc0c-4449-9f13-3936c694fe1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01B061-BA27-4CF4-ADC0-E3A570527F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CF2F3D-EA34-420C-92FA-F26A9960DC0E}">
  <ds:schemaRefs>
    <ds:schemaRef ds:uri="383c046b-be39-43b0-8602-9678373d7545"/>
    <ds:schemaRef ds:uri="46e6dd45-dc0c-4449-9f13-3936c694fe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752</Words>
  <Application>Microsoft Macintosh PowerPoint</Application>
  <PresentationFormat>Widescreen</PresentationFormat>
  <Paragraphs>127</Paragraphs>
  <Slides>15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Arial</vt:lpstr>
      <vt:lpstr>BlinkMacSystemFont</vt:lpstr>
      <vt:lpstr>Calibri</vt:lpstr>
      <vt:lpstr>Calibri Light</vt:lpstr>
      <vt:lpstr>MuseoSans</vt:lpstr>
      <vt:lpstr>System Font Regular</vt:lpstr>
      <vt:lpstr>Times New Roman</vt:lpstr>
      <vt:lpstr>Wingdings</vt:lpstr>
      <vt:lpstr>Office Theme</vt:lpstr>
      <vt:lpstr>PowerPoint Presentation</vt:lpstr>
      <vt:lpstr>Outline</vt:lpstr>
      <vt:lpstr>Physiological vs personalized: an exclusive choice?</vt:lpstr>
      <vt:lpstr>Specifying CVS model complexity…</vt:lpstr>
      <vt:lpstr>An anatomically accurate model: pros and cons</vt:lpstr>
      <vt:lpstr>Anatomical complexity</vt:lpstr>
      <vt:lpstr>Anatomical (&amp; physiological) personalization</vt:lpstr>
      <vt:lpstr>Hetero-dimensional CVS models</vt:lpstr>
      <vt:lpstr>PowerPoint Presentation</vt:lpstr>
      <vt:lpstr>Hetero-dimensional CVS models</vt:lpstr>
      <vt:lpstr>0D CVS modelling</vt:lpstr>
      <vt:lpstr>Modules, heaps of modules (!), and their coupling</vt:lpstr>
      <vt:lpstr>Modules, heaps of modules (!), and their coupling</vt:lpstr>
      <vt:lpstr>Modules, heaps of modules (!), and their coupling</vt:lpstr>
      <vt:lpstr>…any questions?!?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Park, Chloe</dc:creator>
  <cp:lastModifiedBy>Beatrice Ghitti</cp:lastModifiedBy>
  <cp:revision>41</cp:revision>
  <dcterms:created xsi:type="dcterms:W3CDTF">2024-03-30T13:46:06Z</dcterms:created>
  <dcterms:modified xsi:type="dcterms:W3CDTF">2025-03-11T09:48:16Z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lpwstr/>
  </property>
  <property fmtid="{D5CDD505-2E9C-101B-9397-08002B2CF9AE}" pid="3" name="MediaServiceImageTags">
    <vt:lpwstr/>
  </property>
  <property fmtid="{D5CDD505-2E9C-101B-9397-08002B2CF9AE}" pid="4" name="ContentTypeId">
    <vt:lpwstr>0x01010086472F9BCB2335438FD2987C080340E8</vt:lpwstr>
  </property>
</Properties>
</file>