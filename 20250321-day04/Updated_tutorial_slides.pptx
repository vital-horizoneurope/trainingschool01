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9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9189-298F-1C7D-7147-4A79AB8BD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986A2-60F5-259B-E639-1F1B257FC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CE03C-CEA7-4EB6-78BC-39CA46BE1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F65D4-B1F0-6369-10A8-229F186D7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E279B-F1C1-DD67-CA77-59EBB030E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4280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6B7C-AD10-54AE-48D8-FB4497F3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B345-2A43-60A5-29C9-ABF965851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4681E-247D-80AB-C985-E858918E1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074A4-1E6C-A843-C9FD-E004FA48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C98AB-47CB-8E88-79BB-F296FA46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8485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C9F5D-454B-8D94-E2A0-ACF3869D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F80F-8396-1A3E-959B-D20BE487E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25B2F-9190-1143-B018-8F37CED5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2676D-4C59-7F4A-0563-7244D0CA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65386-09B3-8DFC-C368-FE5F98B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25408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C2EF-E52C-89D5-0111-0738F1F7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108B2-964D-632F-ADAC-BDF8F4764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8E776-E93F-29BB-0D4A-6D11AE2AA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F19BE-886B-4737-CAC3-3397E407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281F7-A333-90F8-083C-1D5EC196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F67B4-E328-E2C8-E739-218258A6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1376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3B1A-04C7-F85C-238E-DC72B7BC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858B5-F06C-BEE7-42D8-363CE6CE9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E6137-CBC6-74A3-3DD3-C070D822F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E4EF86-7C4D-A702-0722-D726DC36E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40CFD-55E7-6FE5-CBDA-86F6021ED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5BBB7-12CA-F635-3E16-4662E80E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FD9A0-5224-E393-7B60-CB090A42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725DF1-FFAB-C470-411E-0A91C45D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8212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3ED9-DC39-070A-15AE-6FC5F3EF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9000E-C270-985D-E518-7DA6EDAD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F692D-8869-79DC-D231-3DCB105B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DA195-E7F8-46D4-9DC6-2959326D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2085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2B9F8-29EC-5785-02E3-DA4380BB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B3CF8-1751-E249-5102-8D368E92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BFC23-4CA8-B85C-EFE6-761D386E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0819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22026-998C-3C84-F80C-E7BFA8391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CAACA-200A-A649-F8F5-0C22E9154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F00DB-DA77-0D51-850C-F2833705A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CE44B-E2D7-321E-F85C-24B05856E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7BA98-30DC-4380-C810-AD814053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3D217-07B6-BD5E-F39D-2C4DA9F5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4367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C153-6006-E426-7F7C-E6E5D18F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63485E-E4F9-0778-8762-0E205C946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CE0AA-68A7-6E6C-D68E-DC5FB0DAA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1CC9D-CEC5-3F07-84CA-69E6AC164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6C37C-79E0-6EB7-C63A-E82ADC1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14CAE-7BFC-F4F5-ECDF-3D9CB606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8282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4AA7-D08E-2CF5-2D16-41A9F7D5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4456B-A229-6D7A-3CC6-5A8DE19C1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BEA1A-9756-FFA3-5887-08464E95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C3E8-6406-2FA5-9198-A432DEAC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62444-14B1-748D-59C4-489F24A2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7542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4C72F-EC29-7AEA-DEE2-F2FA99A01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09700-A278-6B4D-A92B-C3584EF53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F3F6-26B5-1DB8-8202-F215E264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FC8D3-2168-39D6-D5CF-DADAD0246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38B05-F10B-EF3D-C201-107E073F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284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9FDB8-B48A-BDA1-40BC-0EE8CB1F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284C3-E030-35C6-8456-956FBC56A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42091-C749-9151-5781-A061E6BBA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19503-6746-42C4-BB88-6523006A7027}" type="datetimeFigureOut">
              <a:rPr lang="en-NZ" smtClean="0"/>
              <a:t>21/03/2025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B834E-7C66-BD50-A139-34E6F187A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94CD3-2BC8-7486-1F62-988B6CFBE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E9C37-2655-4EB5-A721-E5DD4FE52E4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8220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88096-A71F-FF3A-AB01-F02E4944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uman heart with veins and veins&#10;&#10;AI-generated content may be incorrect.">
            <a:extLst>
              <a:ext uri="{FF2B5EF4-FFF2-40B4-BE49-F238E27FC236}">
                <a16:creationId xmlns:a16="http://schemas.microsoft.com/office/drawing/2014/main" id="{E37FE20D-AFBE-6B7E-ED61-7550E1A2E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683" y="3091219"/>
            <a:ext cx="3910084" cy="39100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8E4A570-035C-2543-FF70-C762CB18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51" y="283541"/>
            <a:ext cx="10515600" cy="2852737"/>
          </a:xfrm>
        </p:spPr>
        <p:txBody>
          <a:bodyPr>
            <a:normAutofit/>
          </a:bodyPr>
          <a:lstStyle/>
          <a:p>
            <a:r>
              <a:rPr lang="en-US" sz="4800" dirty="0"/>
              <a:t>Tutorial: parameter estimation with an AI-surrogate model</a:t>
            </a:r>
            <a:endParaRPr lang="en-NZ" sz="4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AEDE96-575A-E0DF-5B0B-05CB70A49415}"/>
              </a:ext>
            </a:extLst>
          </p:cNvPr>
          <p:cNvCxnSpPr/>
          <p:nvPr/>
        </p:nvCxnSpPr>
        <p:spPr>
          <a:xfrm>
            <a:off x="831850" y="3136278"/>
            <a:ext cx="11532428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45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9ADBB-4382-8C00-ACB7-BE6E9C17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F47DF7-A5CB-E82D-C9C4-D7692A0D4518}"/>
              </a:ext>
            </a:extLst>
          </p:cNvPr>
          <p:cNvSpPr txBox="1"/>
          <p:nvPr/>
        </p:nvSpPr>
        <p:spPr>
          <a:xfrm>
            <a:off x="232915" y="294713"/>
            <a:ext cx="1166291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3200" dirty="0"/>
              <a:t>AI-surrogate model tutorial</a:t>
            </a:r>
          </a:p>
          <a:p>
            <a:endParaRPr lang="en-NZ" sz="2400" dirty="0"/>
          </a:p>
          <a:p>
            <a:r>
              <a:rPr lang="en-NZ" dirty="0"/>
              <a:t>An advantage of using deep learning frameworks (</a:t>
            </a:r>
            <a:r>
              <a:rPr lang="en-NZ" dirty="0" err="1"/>
              <a:t>PyTorch</a:t>
            </a:r>
            <a:r>
              <a:rPr lang="en-NZ" dirty="0"/>
              <a:t>, TensorFlow, etc.) is their capability to perform automatic differentiation of the operators (aka neural networks). We compute n-order derivatives of outputs or intermediate layers with respect to:</a:t>
            </a:r>
          </a:p>
          <a:p>
            <a:pPr marL="54000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NZ" dirty="0"/>
              <a:t>Network weights (intensively used during training)</a:t>
            </a:r>
            <a:r>
              <a:rPr lang="en-NZ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endParaRPr lang="en-NZ" dirty="0"/>
          </a:p>
          <a:p>
            <a:pPr marL="54000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NZ" dirty="0"/>
              <a:t>Network inputs </a:t>
            </a:r>
            <a:r>
              <a:rPr lang="en-NZ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endParaRPr lang="en-NZ" b="1" dirty="0"/>
          </a:p>
          <a:p>
            <a:r>
              <a:rPr lang="en-NZ" dirty="0"/>
              <a:t>This allows computing model sensitivity with respect to inputs and model parameters.</a:t>
            </a:r>
          </a:p>
          <a:p>
            <a:endParaRPr lang="en-NZ" b="1" dirty="0"/>
          </a:p>
          <a:p>
            <a:r>
              <a:rPr lang="en-NZ" b="1" dirty="0"/>
              <a:t>Task 1: </a:t>
            </a:r>
            <a:r>
              <a:rPr lang="en-NZ" dirty="0"/>
              <a:t>Familiarise with the “run_learn_model.py” script, and execute it with the “</a:t>
            </a:r>
            <a:r>
              <a:rPr lang="en-NZ" dirty="0" err="1"/>
              <a:t>data_generation_test.gen</a:t>
            </a:r>
            <a:r>
              <a:rPr lang="en-NZ" dirty="0"/>
              <a:t>” configuration file.</a:t>
            </a:r>
          </a:p>
          <a:p>
            <a:endParaRPr lang="en-NZ" dirty="0"/>
          </a:p>
          <a:p>
            <a:r>
              <a:rPr lang="en-NZ" b="1" dirty="0"/>
              <a:t>Task 2:</a:t>
            </a:r>
            <a:r>
              <a:rPr lang="en-NZ" dirty="0"/>
              <a:t> Execute the inference script “run_execute_prediction.py” script with the pre-trained model from “</a:t>
            </a:r>
            <a:r>
              <a:rPr lang="en-NZ" dirty="0" err="1"/>
              <a:t>data_generation_DS_HPC.gen</a:t>
            </a:r>
            <a:r>
              <a:rPr lang="en-NZ" dirty="0"/>
              <a:t>” and visualise errors. Notice that the predictions are in the learning space.</a:t>
            </a:r>
          </a:p>
          <a:p>
            <a:endParaRPr lang="en-NZ" b="1" dirty="0"/>
          </a:p>
        </p:txBody>
      </p:sp>
    </p:spTree>
    <p:extLst>
      <p:ext uri="{BB962C8B-B14F-4D97-AF65-F5344CB8AC3E}">
        <p14:creationId xmlns:p14="http://schemas.microsoft.com/office/powerpoint/2010/main" val="388059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42A4-5515-E9F4-B245-45F39974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421E0-A8E3-B299-DE6A-E4810445AD1B}"/>
              </a:ext>
            </a:extLst>
          </p:cNvPr>
          <p:cNvSpPr txBox="1"/>
          <p:nvPr/>
        </p:nvSpPr>
        <p:spPr>
          <a:xfrm>
            <a:off x="232915" y="294713"/>
            <a:ext cx="1166291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3200" dirty="0"/>
              <a:t>AI-surrogate model tutorial</a:t>
            </a:r>
          </a:p>
          <a:p>
            <a:endParaRPr lang="en-NZ" sz="2400" dirty="0"/>
          </a:p>
          <a:p>
            <a:r>
              <a:rPr lang="en-NZ" b="1" dirty="0"/>
              <a:t>Task 3: </a:t>
            </a:r>
            <a:r>
              <a:rPr lang="en-NZ" dirty="0"/>
              <a:t>Modify the “run_learn_model.py” for parameter estimation, i.e., instead of training the network weights, train two of the inputs, specifically E_1 and E_2. For this, use the pre-trained model used for inference (“</a:t>
            </a:r>
            <a:r>
              <a:rPr lang="en-NZ" dirty="0" err="1"/>
              <a:t>data_generation_DS_HPC.gen</a:t>
            </a:r>
            <a:r>
              <a:rPr lang="en-NZ" dirty="0"/>
              <a:t>”), where the weights are already trained (remove the save model line to avoid overwriting the model!). </a:t>
            </a:r>
          </a:p>
          <a:p>
            <a:endParaRPr lang="en-NZ" dirty="0"/>
          </a:p>
          <a:p>
            <a:r>
              <a:rPr lang="en-NZ" dirty="0"/>
              <a:t>Notice that the network inputs are ordered as [x,y,z,E1,E2,P1,PCA1,PCA2]. As observations, use any of the files in “resources/train_0” folder, which correspond to simulation outputs of the high-fidelity model with different material properties E_1 and E_2. Thus, the result of your parameter estimation when using the data from “training_data_E1_3.0_E2_10.0_PCA1_0.0_PCA2_0.0.csv” should be E_1=3.0 and E_2=10.0.</a:t>
            </a:r>
          </a:p>
          <a:p>
            <a:endParaRPr lang="en-NZ" dirty="0"/>
          </a:p>
          <a:p>
            <a:r>
              <a:rPr lang="en-NZ" dirty="0"/>
              <a:t>HINTS: Look at the script “run_parameter_estimation_P.py” for an example of how to train inputs for a given observation.</a:t>
            </a:r>
          </a:p>
          <a:p>
            <a:endParaRPr lang="en-NZ" dirty="0"/>
          </a:p>
          <a:p>
            <a:r>
              <a:rPr lang="en-NZ" dirty="0"/>
              <a:t> #    How to read data files</a:t>
            </a:r>
          </a:p>
          <a:p>
            <a:r>
              <a:rPr lang="en-NZ" dirty="0"/>
              <a:t>reader = </a:t>
            </a:r>
            <a:r>
              <a:rPr lang="en-NZ" dirty="0" err="1"/>
              <a:t>CardiacReader</a:t>
            </a:r>
            <a:r>
              <a:rPr lang="en-NZ" dirty="0"/>
              <a:t>(</a:t>
            </a:r>
            <a:r>
              <a:rPr lang="en-NZ" dirty="0" err="1"/>
              <a:t>cfg</a:t>
            </a:r>
            <a:r>
              <a:rPr lang="en-NZ" dirty="0"/>
              <a:t>["network"]["inputs"], </a:t>
            </a:r>
            <a:r>
              <a:rPr lang="en-NZ" dirty="0" err="1"/>
              <a:t>cfg</a:t>
            </a:r>
            <a:r>
              <a:rPr lang="en-NZ" dirty="0"/>
              <a:t>["network"]["outputs"], </a:t>
            </a:r>
            <a:r>
              <a:rPr lang="en-NZ" dirty="0" err="1"/>
              <a:t>cfg</a:t>
            </a:r>
            <a:r>
              <a:rPr lang="en-NZ" dirty="0"/>
              <a:t>["training"]["labels"])</a:t>
            </a:r>
          </a:p>
          <a:p>
            <a:r>
              <a:rPr lang="en-NZ" dirty="0" err="1"/>
              <a:t>input_val</a:t>
            </a:r>
            <a:r>
              <a:rPr lang="en-NZ" dirty="0"/>
              <a:t>, </a:t>
            </a:r>
            <a:r>
              <a:rPr lang="en-NZ" dirty="0" err="1"/>
              <a:t>output_val</a:t>
            </a:r>
            <a:r>
              <a:rPr lang="en-NZ" dirty="0"/>
              <a:t> = </a:t>
            </a:r>
            <a:r>
              <a:rPr lang="en-NZ" dirty="0" err="1"/>
              <a:t>reader.read_domain_values</a:t>
            </a:r>
            <a:r>
              <a:rPr lang="en-NZ" dirty="0"/>
              <a:t>([</a:t>
            </a:r>
            <a:r>
              <a:rPr lang="en-NZ" dirty="0" err="1"/>
              <a:t>sys.argv</a:t>
            </a:r>
            <a:r>
              <a:rPr lang="en-NZ" dirty="0"/>
              <a:t>[2]],</a:t>
            </a:r>
            <a:r>
              <a:rPr lang="en-NZ" dirty="0" err="1"/>
              <a:t>cfg</a:t>
            </a:r>
            <a:r>
              <a:rPr lang="en-NZ" dirty="0"/>
              <a:t>["outputs"]["path"],[False, False, False],[0.0,0.0,0.0])</a:t>
            </a:r>
          </a:p>
        </p:txBody>
      </p:sp>
    </p:spTree>
    <p:extLst>
      <p:ext uri="{BB962C8B-B14F-4D97-AF65-F5344CB8AC3E}">
        <p14:creationId xmlns:p14="http://schemas.microsoft.com/office/powerpoint/2010/main" val="2928155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Theme</vt:lpstr>
      <vt:lpstr>Tutorial: parameter estimation with an AI-surrogate model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Gonzalo Maso Talou</dc:creator>
  <cp:lastModifiedBy>Gonzalo Maso Talou</cp:lastModifiedBy>
  <cp:revision>1</cp:revision>
  <dcterms:created xsi:type="dcterms:W3CDTF">2025-03-21T10:34:29Z</dcterms:created>
  <dcterms:modified xsi:type="dcterms:W3CDTF">2025-03-21T10:34:46Z</dcterms:modified>
</cp:coreProperties>
</file>